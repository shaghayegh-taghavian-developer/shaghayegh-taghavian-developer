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381" r:id="rId5"/>
    <p:sldId id="382" r:id="rId6"/>
    <p:sldId id="411" r:id="rId7"/>
    <p:sldId id="405" r:id="rId8"/>
    <p:sldId id="415" r:id="rId9"/>
    <p:sldId id="384" r:id="rId10"/>
    <p:sldId id="385" r:id="rId11"/>
    <p:sldId id="399" r:id="rId12"/>
    <p:sldId id="395" r:id="rId13"/>
    <p:sldId id="416" r:id="rId14"/>
    <p:sldId id="417" r:id="rId15"/>
    <p:sldId id="396" r:id="rId16"/>
    <p:sldId id="423" r:id="rId17"/>
    <p:sldId id="424" r:id="rId18"/>
    <p:sldId id="425" r:id="rId19"/>
    <p:sldId id="422" r:id="rId20"/>
    <p:sldId id="398" r:id="rId21"/>
    <p:sldId id="407" r:id="rId22"/>
    <p:sldId id="408" r:id="rId23"/>
    <p:sldId id="397" r:id="rId24"/>
    <p:sldId id="402" r:id="rId25"/>
    <p:sldId id="413" r:id="rId26"/>
    <p:sldId id="390" r:id="rId27"/>
    <p:sldId id="401" r:id="rId28"/>
    <p:sldId id="403" r:id="rId29"/>
    <p:sldId id="404" r:id="rId30"/>
    <p:sldId id="409" r:id="rId31"/>
    <p:sldId id="418" r:id="rId32"/>
    <p:sldId id="421" r:id="rId33"/>
    <p:sldId id="420" r:id="rId34"/>
    <p:sldId id="426" r:id="rId35"/>
    <p:sldId id="412" r:id="rId36"/>
    <p:sldId id="394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هدیه دارستانی فراهانی" initials="هدیه" lastIdx="1" clrIdx="0">
    <p:extLst>
      <p:ext uri="{19B8F6BF-5375-455C-9EA6-DF929625EA0E}">
        <p15:presenceInfo xmlns:p15="http://schemas.microsoft.com/office/powerpoint/2012/main" userId="S-1-5-21-2372276602-1613246855-4135073924-117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AFF"/>
    <a:srgbClr val="F78CB9"/>
    <a:srgbClr val="F5DAC5"/>
    <a:srgbClr val="00A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616" autoAdjust="0"/>
  </p:normalViewPr>
  <p:slideViewPr>
    <p:cSldViewPr snapToGrid="0">
      <p:cViewPr varScale="1">
        <p:scale>
          <a:sx n="84" d="100"/>
          <a:sy n="84" d="100"/>
        </p:scale>
        <p:origin x="157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9710A5-4DD7-4486-BB0D-508AF75A338F}" type="doc">
      <dgm:prSet loTypeId="urn:microsoft.com/office/officeart/2005/8/layout/venn1" loCatId="relationship" qsTypeId="urn:microsoft.com/office/officeart/2005/8/quickstyle/3d3" qsCatId="3D" csTypeId="urn:microsoft.com/office/officeart/2005/8/colors/colorful4" csCatId="colorful" phldr="1"/>
      <dgm:spPr/>
    </dgm:pt>
    <dgm:pt modelId="{C943C087-EE7A-469D-A95E-B1EF694C3080}">
      <dgm:prSet phldrT="[Text]"/>
      <dgm:spPr/>
      <dgm:t>
        <a:bodyPr/>
        <a:lstStyle/>
        <a:p>
          <a:pPr>
            <a:buNone/>
          </a:pPr>
          <a:r>
            <a:rPr lang="en-US" b="0" i="0" dirty="0"/>
            <a:t>State</a:t>
          </a:r>
          <a:endParaRPr lang="fa-IR" b="0" i="0" dirty="0"/>
        </a:p>
        <a:p>
          <a:pPr>
            <a:buNone/>
          </a:pPr>
          <a:r>
            <a:rPr lang="fa-IR" b="0" i="0" dirty="0"/>
            <a:t>پیچیده</a:t>
          </a:r>
          <a:endParaRPr lang="en-US" dirty="0"/>
        </a:p>
      </dgm:t>
    </dgm:pt>
    <dgm:pt modelId="{DB322D29-8989-4128-B446-3FC29F545C69}" type="parTrans" cxnId="{DE94E05D-C888-44AE-8383-E3F5784076BE}">
      <dgm:prSet/>
      <dgm:spPr/>
      <dgm:t>
        <a:bodyPr/>
        <a:lstStyle/>
        <a:p>
          <a:endParaRPr lang="en-US"/>
        </a:p>
      </dgm:t>
    </dgm:pt>
    <dgm:pt modelId="{5892307A-9FB5-48C1-8A52-BCC78480914A}" type="sibTrans" cxnId="{DE94E05D-C888-44AE-8383-E3F5784076BE}">
      <dgm:prSet/>
      <dgm:spPr/>
      <dgm:t>
        <a:bodyPr/>
        <a:lstStyle/>
        <a:p>
          <a:endParaRPr lang="en-US"/>
        </a:p>
      </dgm:t>
    </dgm:pt>
    <dgm:pt modelId="{1B7D2833-647D-4B1C-9F8A-AF652195E186}">
      <dgm:prSet phldrT="[Text]"/>
      <dgm:spPr/>
      <dgm:t>
        <a:bodyPr/>
        <a:lstStyle/>
        <a:p>
          <a:pPr>
            <a:buNone/>
          </a:pPr>
          <a:r>
            <a:rPr lang="en-US" b="0" i="0" dirty="0"/>
            <a:t>State</a:t>
          </a:r>
          <a:endParaRPr lang="fa-IR" b="0" i="0" dirty="0"/>
        </a:p>
        <a:p>
          <a:pPr>
            <a:buNone/>
          </a:pPr>
          <a:r>
            <a:rPr lang="fa-IR" b="0" i="0" dirty="0"/>
            <a:t>جند تا مرتبط</a:t>
          </a:r>
        </a:p>
      </dgm:t>
    </dgm:pt>
    <dgm:pt modelId="{7CECC31C-A196-4123-8913-3BD9AE358F2C}" type="parTrans" cxnId="{F3B19C92-C431-4911-B885-A3774179B019}">
      <dgm:prSet/>
      <dgm:spPr/>
      <dgm:t>
        <a:bodyPr/>
        <a:lstStyle/>
        <a:p>
          <a:endParaRPr lang="en-US"/>
        </a:p>
      </dgm:t>
    </dgm:pt>
    <dgm:pt modelId="{C70E1CC5-8C5A-4B1C-AA7C-0E74E28EB94F}" type="sibTrans" cxnId="{F3B19C92-C431-4911-B885-A3774179B019}">
      <dgm:prSet/>
      <dgm:spPr/>
      <dgm:t>
        <a:bodyPr/>
        <a:lstStyle/>
        <a:p>
          <a:endParaRPr lang="en-US"/>
        </a:p>
      </dgm:t>
    </dgm:pt>
    <dgm:pt modelId="{C7C063EA-2236-4942-8408-161F7DCBFD1F}" type="pres">
      <dgm:prSet presAssocID="{059710A5-4DD7-4486-BB0D-508AF75A338F}" presName="compositeShape" presStyleCnt="0">
        <dgm:presLayoutVars>
          <dgm:chMax val="7"/>
          <dgm:dir/>
          <dgm:resizeHandles val="exact"/>
        </dgm:presLayoutVars>
      </dgm:prSet>
      <dgm:spPr/>
    </dgm:pt>
    <dgm:pt modelId="{53B9DEE0-B1DC-4461-B58B-A9B6DF01A2BD}" type="pres">
      <dgm:prSet presAssocID="{C943C087-EE7A-469D-A95E-B1EF694C3080}" presName="circ1" presStyleLbl="vennNode1" presStyleIdx="0" presStyleCnt="2"/>
      <dgm:spPr/>
    </dgm:pt>
    <dgm:pt modelId="{63261119-7333-4D1E-8B46-C724185583B1}" type="pres">
      <dgm:prSet presAssocID="{C943C087-EE7A-469D-A95E-B1EF694C308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13A70A-C72E-4DF3-9312-D9EDCD381447}" type="pres">
      <dgm:prSet presAssocID="{1B7D2833-647D-4B1C-9F8A-AF652195E186}" presName="circ2" presStyleLbl="vennNode1" presStyleIdx="1" presStyleCnt="2"/>
      <dgm:spPr/>
    </dgm:pt>
    <dgm:pt modelId="{654FA170-F5E1-4640-A6AF-FA1B1B945504}" type="pres">
      <dgm:prSet presAssocID="{1B7D2833-647D-4B1C-9F8A-AF652195E18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F76EA13-F58F-447F-A9E1-9A0B63EC5429}" type="presOf" srcId="{059710A5-4DD7-4486-BB0D-508AF75A338F}" destId="{C7C063EA-2236-4942-8408-161F7DCBFD1F}" srcOrd="0" destOrd="0" presId="urn:microsoft.com/office/officeart/2005/8/layout/venn1"/>
    <dgm:cxn modelId="{0CBC961C-FA67-4ECC-98E6-3B05C2AA6A4C}" type="presOf" srcId="{C943C087-EE7A-469D-A95E-B1EF694C3080}" destId="{53B9DEE0-B1DC-4461-B58B-A9B6DF01A2BD}" srcOrd="0" destOrd="0" presId="urn:microsoft.com/office/officeart/2005/8/layout/venn1"/>
    <dgm:cxn modelId="{DE94E05D-C888-44AE-8383-E3F5784076BE}" srcId="{059710A5-4DD7-4486-BB0D-508AF75A338F}" destId="{C943C087-EE7A-469D-A95E-B1EF694C3080}" srcOrd="0" destOrd="0" parTransId="{DB322D29-8989-4128-B446-3FC29F545C69}" sibTransId="{5892307A-9FB5-48C1-8A52-BCC78480914A}"/>
    <dgm:cxn modelId="{F3B19C92-C431-4911-B885-A3774179B019}" srcId="{059710A5-4DD7-4486-BB0D-508AF75A338F}" destId="{1B7D2833-647D-4B1C-9F8A-AF652195E186}" srcOrd="1" destOrd="0" parTransId="{7CECC31C-A196-4123-8913-3BD9AE358F2C}" sibTransId="{C70E1CC5-8C5A-4B1C-AA7C-0E74E28EB94F}"/>
    <dgm:cxn modelId="{804FBEC6-9783-48BE-8D3A-55E6B1684D85}" type="presOf" srcId="{C943C087-EE7A-469D-A95E-B1EF694C3080}" destId="{63261119-7333-4D1E-8B46-C724185583B1}" srcOrd="1" destOrd="0" presId="urn:microsoft.com/office/officeart/2005/8/layout/venn1"/>
    <dgm:cxn modelId="{0FA65DD2-7261-4289-889B-50F980F04251}" type="presOf" srcId="{1B7D2833-647D-4B1C-9F8A-AF652195E186}" destId="{654FA170-F5E1-4640-A6AF-FA1B1B945504}" srcOrd="1" destOrd="0" presId="urn:microsoft.com/office/officeart/2005/8/layout/venn1"/>
    <dgm:cxn modelId="{7C1940F8-70E9-45AA-A137-B58861A7A229}" type="presOf" srcId="{1B7D2833-647D-4B1C-9F8A-AF652195E186}" destId="{0013A70A-C72E-4DF3-9312-D9EDCD381447}" srcOrd="0" destOrd="0" presId="urn:microsoft.com/office/officeart/2005/8/layout/venn1"/>
    <dgm:cxn modelId="{F44F05C2-EFC7-467F-B573-D9971F1DCCF8}" type="presParOf" srcId="{C7C063EA-2236-4942-8408-161F7DCBFD1F}" destId="{53B9DEE0-B1DC-4461-B58B-A9B6DF01A2BD}" srcOrd="0" destOrd="0" presId="urn:microsoft.com/office/officeart/2005/8/layout/venn1"/>
    <dgm:cxn modelId="{5203ACA6-F0C2-448F-B8DF-004F42AA9D06}" type="presParOf" srcId="{C7C063EA-2236-4942-8408-161F7DCBFD1F}" destId="{63261119-7333-4D1E-8B46-C724185583B1}" srcOrd="1" destOrd="0" presId="urn:microsoft.com/office/officeart/2005/8/layout/venn1"/>
    <dgm:cxn modelId="{A3C081BB-831F-4C62-A3F1-3F39B1EB69C7}" type="presParOf" srcId="{C7C063EA-2236-4942-8408-161F7DCBFD1F}" destId="{0013A70A-C72E-4DF3-9312-D9EDCD381447}" srcOrd="2" destOrd="0" presId="urn:microsoft.com/office/officeart/2005/8/layout/venn1"/>
    <dgm:cxn modelId="{265FFCE7-5E59-4366-99EC-F6A2D90C2C2F}" type="presParOf" srcId="{C7C063EA-2236-4942-8408-161F7DCBFD1F}" destId="{654FA170-F5E1-4640-A6AF-FA1B1B945504}" srcOrd="3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B9DEE0-B1DC-4461-B58B-A9B6DF01A2BD}">
      <dsp:nvSpPr>
        <dsp:cNvPr id="0" name=""/>
        <dsp:cNvSpPr/>
      </dsp:nvSpPr>
      <dsp:spPr>
        <a:xfrm>
          <a:off x="92761" y="1734871"/>
          <a:ext cx="2288119" cy="2288119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State</a:t>
          </a:r>
          <a:endParaRPr lang="fa-IR" sz="3800" b="0" i="0" kern="1200" dirty="0"/>
        </a:p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800" b="0" i="0" kern="1200" dirty="0"/>
            <a:t>پیچیده</a:t>
          </a:r>
          <a:endParaRPr lang="en-US" sz="3800" kern="1200" dirty="0"/>
        </a:p>
      </dsp:txBody>
      <dsp:txXfrm>
        <a:off x="412273" y="2004689"/>
        <a:ext cx="1319276" cy="1748482"/>
      </dsp:txXfrm>
    </dsp:sp>
    <dsp:sp modelId="{0013A70A-C72E-4DF3-9312-D9EDCD381447}">
      <dsp:nvSpPr>
        <dsp:cNvPr id="0" name=""/>
        <dsp:cNvSpPr/>
      </dsp:nvSpPr>
      <dsp:spPr>
        <a:xfrm>
          <a:off x="1741856" y="1734871"/>
          <a:ext cx="2288119" cy="2288119"/>
        </a:xfrm>
        <a:prstGeom prst="ellipse">
          <a:avLst/>
        </a:prstGeom>
        <a:solidFill>
          <a:schemeClr val="accent4">
            <a:alpha val="50000"/>
            <a:hueOff val="935923"/>
            <a:satOff val="13873"/>
            <a:lumOff val="941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dirty="0"/>
            <a:t>State</a:t>
          </a:r>
          <a:endParaRPr lang="fa-IR" sz="3800" b="0" i="0" kern="1200" dirty="0"/>
        </a:p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800" b="0" i="0" kern="1200" dirty="0"/>
            <a:t>جند تا مرتبط</a:t>
          </a:r>
        </a:p>
      </dsp:txBody>
      <dsp:txXfrm>
        <a:off x="2391188" y="2004689"/>
        <a:ext cx="1319276" cy="1748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E10C-4735-4A0D-A76B-FFFBF4B6ED03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13D6A-DFDD-4B27-9F53-83C0CD9331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35CDE-2E0B-4188-96E9-ADF9ACB826A9}" type="datetimeFigureOut">
              <a:rPr lang="en-US" noProof="0" smtClean="0"/>
              <a:t>11/22/2025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D7B6F-E65C-42E7-86A5-0A01C6C9522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017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0877-F0B0-E4BB-3DDE-5712B853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81FF7-63CC-3D5C-F11C-4CA38CBD1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F8680-349F-C11D-B57E-DDDD46AD1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434AD-5455-E8E3-4607-06CFFA506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7931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F66BD-3D64-F4B1-6C83-DF381756B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FBAC5-1E3A-8D11-872F-91F8CA813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2BB13-D631-9538-B3F9-0302A7B63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0153C-CBB5-328F-F7CD-6CC247AED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5855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0BD60-D2A3-26C7-F319-D14B45A61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BDB26-6D67-C83E-1E7A-1DD2B7746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9D724-E617-B57A-0187-9FB37DAD9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E52E2-81E8-8EA2-2485-9DCB0F974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9100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0947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8398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57540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6732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578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4106E-99E3-D0BC-15C5-CEFDB6EB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5E5C81-61EA-3EF6-6448-3AE5FA8A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42A0D-3E7C-57EB-2460-DD744BDDC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9D6B4-D31C-8E72-777A-CBDA22A5B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16478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2404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68390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94BF1-0C28-1BC7-4913-4E9518656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3186E-8C36-9465-5475-CE37D539C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CD837-B155-F253-A87A-A42FB087B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220E5-C958-46FF-E6AB-BECBD12B9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15061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5296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DF127-0B05-C4E9-B12D-E928FC79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8B007-A706-FC4F-94CD-82DB72194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9F18B-61F0-C83A-C2E5-12B25C4CE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C5BC1-E417-59D7-7D21-913193101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1336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FF35C-2950-9DD9-4DBF-7626BEA0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998DA-AEE8-CF96-849F-04BC403F5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49E22-5B86-25B5-B453-FC24052EC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CF076-53AA-BC14-1599-751D94A0D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60959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94AEE-F455-ADEB-2D54-12E8EBD4D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60BB1B-540E-CF2F-DAB4-2428EB425F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DC270-F4FA-93B1-FB5D-57F1A4BBA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F2270-2E48-BFFA-8FA1-C364C3CDB3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80185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775E5-E6D8-B2A6-9C17-7ABF4467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DBD00-56D4-FC6A-58C3-126EC7352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55EC9-147E-14E0-BFD4-97E333C92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D43E-E9DE-369F-7AF0-F375CF66C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5153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061D-1242-9FE8-713D-04669DE7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14A21-1778-ECDA-F091-F1EEF8C67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DE7DD-0147-E1B2-C0EE-A0E765B55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A36AD-1A36-8C12-CA93-691039CDB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57341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D7B6F-E65C-42E7-86A5-0A01C6C95227}" type="slidenum">
              <a:rPr lang="en-US" noProof="0" smtClean="0"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6347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microsoft.com/office/2007/relationships/hdphoto" Target="../media/hdphoto3.wdp"/><Relationship Id="rId4" Type="http://schemas.openxmlformats.org/officeDocument/2006/relationships/image" Target="../media/image17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487DE8-DB1D-7476-8C44-B0F448760DE0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colorful liquid with a purple line&#10;&#10;Description automatically generated">
            <a:extLst>
              <a:ext uri="{FF2B5EF4-FFF2-40B4-BE49-F238E27FC236}">
                <a16:creationId xmlns:a16="http://schemas.microsoft.com/office/drawing/2014/main" id="{1F307DB2-2647-9E7A-A3A3-DBE7504930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80" r="331" b="10324"/>
          <a:stretch/>
        </p:blipFill>
        <p:spPr>
          <a:xfrm>
            <a:off x="84057" y="-9099"/>
            <a:ext cx="11536223" cy="68671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9285B55-78E1-B83E-F9B2-6616677DB9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42007" y="1223587"/>
            <a:ext cx="849017" cy="9780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3B77729-8929-07DD-3A0E-3345E9C7EC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1023" y="4463033"/>
            <a:ext cx="849017" cy="97803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3485D99-86C3-3AD2-8EEC-686C73F6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76" y="1307592"/>
            <a:ext cx="6830568" cy="4498848"/>
          </a:xfrm>
        </p:spPr>
        <p:txBody>
          <a:bodyPr>
            <a:normAutofit/>
          </a:bodyPr>
          <a:lstStyle>
            <a:lvl1pPr algn="ctr">
              <a:lnSpc>
                <a:spcPct val="113000"/>
              </a:lnSpc>
              <a:defRPr sz="5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94F02A7-35D5-9B29-B063-4F40E8DC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1876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7F71CF-7463-EE58-8673-70FF6E01D635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35BEB45A-F384-D7C9-A3CB-75375E4B69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728" t="-787" r="-1" b="2794"/>
          <a:stretch/>
        </p:blipFill>
        <p:spPr>
          <a:xfrm rot="10800000">
            <a:off x="147778" y="-1"/>
            <a:ext cx="11843113" cy="65162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10DECF3-C5B2-7596-8F56-1A7469F36886}"/>
              </a:ext>
            </a:extLst>
          </p:cNvPr>
          <p:cNvGrpSpPr/>
          <p:nvPr userDrawn="1"/>
        </p:nvGrpSpPr>
        <p:grpSpPr>
          <a:xfrm rot="10800000">
            <a:off x="3039303" y="555295"/>
            <a:ext cx="5490384" cy="5535077"/>
            <a:chOff x="2470935" y="599843"/>
            <a:chExt cx="5490384" cy="5535077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A5C777D-A2B2-306B-76C2-3E13CEC5C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70935" y="599843"/>
              <a:ext cx="849017" cy="978035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B86DD9E-B0D3-146B-90C5-1F835B4B6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12302" y="5156885"/>
              <a:ext cx="849017" cy="97803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4368" y="1417320"/>
            <a:ext cx="5367528" cy="219456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F31E34-7EF1-9430-2FA0-784F079D7A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368" y="3602736"/>
            <a:ext cx="5367528" cy="9493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661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A3E124-5798-04DF-D85C-468DB4EC9F07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827662AF-0BAF-6D15-2F77-9241FBB7D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9398"/>
          <a:stretch>
            <a:fillRect/>
          </a:stretch>
        </p:blipFill>
        <p:spPr>
          <a:xfrm rot="12600000">
            <a:off x="-1186695" y="-47254"/>
            <a:ext cx="8514377" cy="6482357"/>
          </a:xfrm>
          <a:custGeom>
            <a:avLst/>
            <a:gdLst>
              <a:gd name="connsiteX0" fmla="*/ 8514377 w 8514377"/>
              <a:gd name="connsiteY0" fmla="*/ 4473859 h 6482357"/>
              <a:gd name="connsiteX1" fmla="*/ 5035556 w 8514377"/>
              <a:gd name="connsiteY1" fmla="*/ 6482357 h 6482357"/>
              <a:gd name="connsiteX2" fmla="*/ 1109801 w 8514377"/>
              <a:gd name="connsiteY2" fmla="*/ 6482357 h 6482357"/>
              <a:gd name="connsiteX3" fmla="*/ 0 w 8514377"/>
              <a:gd name="connsiteY3" fmla="*/ 4560126 h 6482357"/>
              <a:gd name="connsiteX4" fmla="*/ 0 w 8514377"/>
              <a:gd name="connsiteY4" fmla="*/ 1470700 h 6482357"/>
              <a:gd name="connsiteX5" fmla="*/ 2547328 w 8514377"/>
              <a:gd name="connsiteY5" fmla="*/ 0 h 6482357"/>
              <a:gd name="connsiteX6" fmla="*/ 5931393 w 8514377"/>
              <a:gd name="connsiteY6" fmla="*/ 0 h 648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14377" h="6482357">
                <a:moveTo>
                  <a:pt x="8514377" y="4473859"/>
                </a:moveTo>
                <a:lnTo>
                  <a:pt x="5035556" y="6482357"/>
                </a:lnTo>
                <a:lnTo>
                  <a:pt x="1109801" y="6482357"/>
                </a:lnTo>
                <a:lnTo>
                  <a:pt x="0" y="4560126"/>
                </a:lnTo>
                <a:lnTo>
                  <a:pt x="0" y="1470700"/>
                </a:lnTo>
                <a:lnTo>
                  <a:pt x="2547328" y="0"/>
                </a:lnTo>
                <a:lnTo>
                  <a:pt x="5931393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327A7-341D-40E2-FE83-F00DE932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3621024" cy="2121408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4DD5641-C57E-F509-6D45-4612958140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155" y="393616"/>
            <a:ext cx="3539646" cy="6070600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12046-C0D1-8657-A169-8AE89D82B7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EE2E2-CE39-4B10-FFC4-3B077574EC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9EF72-F371-75B2-8BC8-2A3B1BBE2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9442780-F07F-F8E2-0DE6-A7FB6447AE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2147" y="1177405"/>
            <a:ext cx="849017" cy="97803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ED62AC7-D4CF-F7E4-7EB6-B462EEB3FB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4198" y="502867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37384A-AE12-9485-A46A-A67BD2D6D763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1B2BB6B9-EF29-3C73-2A3C-CF09EA6D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8923"/>
          <a:stretch/>
        </p:blipFill>
        <p:spPr>
          <a:xfrm>
            <a:off x="0" y="506925"/>
            <a:ext cx="5699870" cy="573388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8A5217E-2CE2-3F64-6AB4-EB0D30BE276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599873" y="1268006"/>
            <a:ext cx="849017" cy="978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2FC963C-039A-17E9-178D-44753EC43F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2897112" y="4722376"/>
            <a:ext cx="849017" cy="9780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AE4342B-3BF5-0F3A-721B-C761F001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505456"/>
            <a:ext cx="3575304" cy="2331720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0975B60B-4328-7C87-7F8D-0730014D7A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44767" y="393616"/>
            <a:ext cx="4123944" cy="6070600"/>
          </a:xfrm>
        </p:spPr>
        <p:txBody>
          <a:bodyPr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85C39-AC94-8C87-B244-34719C148A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6E03E-A5BE-A491-2B5F-35AD90AE1C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6FD6C-9CEF-3304-8E48-7A8C282A2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61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CC7A06-20DF-11B2-DBA3-4AD5A0782F72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purple and blue gradient&#10;&#10;Description automatically generated">
            <a:extLst>
              <a:ext uri="{FF2B5EF4-FFF2-40B4-BE49-F238E27FC236}">
                <a16:creationId xmlns:a16="http://schemas.microsoft.com/office/drawing/2014/main" id="{7F2E8E22-8715-DC35-A1D6-9DE0F7D4E5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0146" y="430094"/>
            <a:ext cx="6635667" cy="555108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FA543A9-6610-874B-5B5A-83D92322A5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5996376" y="1390616"/>
            <a:ext cx="849017" cy="978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8BD6AF-5555-EEAD-E54D-5C0AD969A1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8522918" y="4778529"/>
            <a:ext cx="849017" cy="97803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23DEBC-4628-999E-0CE4-A99E4EE0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D3C4B38-CA42-D6E7-A813-594FE780EB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3724" y="705888"/>
            <a:ext cx="4123944" cy="5758328"/>
          </a:xfrm>
        </p:spPr>
        <p:txBody>
          <a:bodyPr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7106E-AE9C-748D-BFA7-A5C720C40C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05E23-DC2F-F555-BE36-6A4BA26749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624F6-261B-7F20-EE2A-8BE587173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2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F983AA-CC8F-F29A-16B4-FA97410056A9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7" name="Picture 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E0936C36-F50A-1523-04B4-873B36EE90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4545" y="5588693"/>
            <a:ext cx="3077487" cy="126930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FF0649-2CAB-E241-1544-28122132EC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405889" y="5226745"/>
            <a:ext cx="849017" cy="978035"/>
          </a:xfrm>
          <a:prstGeom prst="rect">
            <a:avLst/>
          </a:prstGeom>
        </p:spPr>
      </p:pic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A3D7DA26-5AF7-F723-8332-D397C9D4FE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4749" y="0"/>
            <a:ext cx="8497251" cy="29455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C212B63-01C0-9907-1952-5BD55C77E0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420682" y="255984"/>
            <a:ext cx="849017" cy="97803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39D6EFD-3D88-AC8E-C91F-AE704D5DC61D}"/>
              </a:ext>
            </a:extLst>
          </p:cNvPr>
          <p:cNvSpPr/>
          <p:nvPr userDrawn="1"/>
        </p:nvSpPr>
        <p:spPr>
          <a:xfrm>
            <a:off x="1161288" y="212140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F4C90D2-BA10-F371-768C-4773A2DD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216" y="1353312"/>
            <a:ext cx="5824728" cy="2459736"/>
          </a:xfrm>
        </p:spPr>
        <p:txBody>
          <a:bodyPr lIns="91440" rIns="91440" anchor="b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110A2D0-5263-97B9-023B-7DEE66187D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5588" y="2235708"/>
            <a:ext cx="2377440" cy="237744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34938F3-05CE-10DD-2D42-621C5ECDCB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14216" y="4050792"/>
            <a:ext cx="5824728" cy="11049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A4635-CD35-105A-54F6-571A5B6C46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2984F-04B1-F977-FBD2-4592E8E4D0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DD725-F823-F190-62A8-AC33F67CA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5DFBE14A-32CA-8A3F-8C86-D04E6B1DBA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5293775"/>
            <a:ext cx="2361321" cy="156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C984FB-85C6-3052-A9EA-F41806C314AF}"/>
              </a:ext>
            </a:extLst>
          </p:cNvPr>
          <p:cNvSpPr/>
          <p:nvPr userDrawn="1"/>
        </p:nvSpPr>
        <p:spPr>
          <a:xfrm>
            <a:off x="803565" y="1291472"/>
            <a:ext cx="9537638" cy="5249368"/>
          </a:xfrm>
          <a:prstGeom prst="rect">
            <a:avLst/>
          </a:prstGeom>
          <a:solidFill>
            <a:srgbClr val="C5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32556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766CFA5-68C3-F68B-7E95-753DDAE1E5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2498" y="1548481"/>
            <a:ext cx="8982675" cy="4736835"/>
          </a:xfrm>
          <a:custGeom>
            <a:avLst/>
            <a:gdLst>
              <a:gd name="connsiteX0" fmla="*/ 3400805 w 8982675"/>
              <a:gd name="connsiteY0" fmla="*/ 4656317 h 4736835"/>
              <a:gd name="connsiteX1" fmla="*/ 3768530 w 8982675"/>
              <a:gd name="connsiteY1" fmla="*/ 4708484 h 4736835"/>
              <a:gd name="connsiteX2" fmla="*/ 3854126 w 8982675"/>
              <a:gd name="connsiteY2" fmla="*/ 4736710 h 4736835"/>
              <a:gd name="connsiteX3" fmla="*/ 3352219 w 8982675"/>
              <a:gd name="connsiteY3" fmla="*/ 4736710 h 4736835"/>
              <a:gd name="connsiteX4" fmla="*/ 3267796 w 8982675"/>
              <a:gd name="connsiteY4" fmla="*/ 4658283 h 4736835"/>
              <a:gd name="connsiteX5" fmla="*/ 3400805 w 8982675"/>
              <a:gd name="connsiteY5" fmla="*/ 4656317 h 4736835"/>
              <a:gd name="connsiteX6" fmla="*/ 0 w 8982675"/>
              <a:gd name="connsiteY6" fmla="*/ 0 h 4736835"/>
              <a:gd name="connsiteX7" fmla="*/ 8982675 w 8982675"/>
              <a:gd name="connsiteY7" fmla="*/ 0 h 4736835"/>
              <a:gd name="connsiteX8" fmla="*/ 8982675 w 8982675"/>
              <a:gd name="connsiteY8" fmla="*/ 4736835 h 4736835"/>
              <a:gd name="connsiteX9" fmla="*/ 3950459 w 8982675"/>
              <a:gd name="connsiteY9" fmla="*/ 4736835 h 4736835"/>
              <a:gd name="connsiteX10" fmla="*/ 3788773 w 8982675"/>
              <a:gd name="connsiteY10" fmla="*/ 4674997 h 4736835"/>
              <a:gd name="connsiteX11" fmla="*/ 3228671 w 8982675"/>
              <a:gd name="connsiteY11" fmla="*/ 4623063 h 4736835"/>
              <a:gd name="connsiteX12" fmla="*/ 3132708 w 8982675"/>
              <a:gd name="connsiteY12" fmla="*/ 4545069 h 4736835"/>
              <a:gd name="connsiteX13" fmla="*/ 2691341 w 8982675"/>
              <a:gd name="connsiteY13" fmla="*/ 4402451 h 4736835"/>
              <a:gd name="connsiteX14" fmla="*/ 2104826 w 8982675"/>
              <a:gd name="connsiteY14" fmla="*/ 4577133 h 4736835"/>
              <a:gd name="connsiteX15" fmla="*/ 540354 w 8982675"/>
              <a:gd name="connsiteY15" fmla="*/ 3817187 h 4736835"/>
              <a:gd name="connsiteX16" fmla="*/ 0 w 8982675"/>
              <a:gd name="connsiteY16" fmla="*/ 3830433 h 473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82675" h="4736835">
                <a:moveTo>
                  <a:pt x="3400805" y="4656317"/>
                </a:moveTo>
                <a:cubicBezTo>
                  <a:pt x="3531347" y="4658926"/>
                  <a:pt x="3654347" y="4675523"/>
                  <a:pt x="3768530" y="4708484"/>
                </a:cubicBezTo>
                <a:cubicBezTo>
                  <a:pt x="3798214" y="4717150"/>
                  <a:pt x="3826726" y="4726559"/>
                  <a:pt x="3854126" y="4736710"/>
                </a:cubicBezTo>
                <a:lnTo>
                  <a:pt x="3352219" y="4736710"/>
                </a:lnTo>
                <a:cubicBezTo>
                  <a:pt x="3323028" y="4709289"/>
                  <a:pt x="3294579" y="4682734"/>
                  <a:pt x="3267796" y="4658283"/>
                </a:cubicBezTo>
                <a:cubicBezTo>
                  <a:pt x="3312939" y="4656132"/>
                  <a:pt x="3357291" y="4655448"/>
                  <a:pt x="3400805" y="4656317"/>
                </a:cubicBezTo>
                <a:close/>
                <a:moveTo>
                  <a:pt x="0" y="0"/>
                </a:moveTo>
                <a:lnTo>
                  <a:pt x="8982675" y="0"/>
                </a:lnTo>
                <a:lnTo>
                  <a:pt x="8982675" y="4736835"/>
                </a:lnTo>
                <a:lnTo>
                  <a:pt x="3950459" y="4736835"/>
                </a:lnTo>
                <a:cubicBezTo>
                  <a:pt x="3900904" y="4713870"/>
                  <a:pt x="3847214" y="4693133"/>
                  <a:pt x="3788773" y="4674997"/>
                </a:cubicBezTo>
                <a:cubicBezTo>
                  <a:pt x="3643810" y="4630924"/>
                  <a:pt x="3458920" y="4609197"/>
                  <a:pt x="3228671" y="4623063"/>
                </a:cubicBezTo>
                <a:cubicBezTo>
                  <a:pt x="3190841" y="4589513"/>
                  <a:pt x="3157763" y="4562153"/>
                  <a:pt x="3132708" y="4545069"/>
                </a:cubicBezTo>
                <a:cubicBezTo>
                  <a:pt x="3009900" y="4465156"/>
                  <a:pt x="2876972" y="4398675"/>
                  <a:pt x="2691341" y="4402451"/>
                </a:cubicBezTo>
                <a:cubicBezTo>
                  <a:pt x="2485283" y="4409074"/>
                  <a:pt x="2289531" y="4465898"/>
                  <a:pt x="2104826" y="4577133"/>
                </a:cubicBezTo>
                <a:cubicBezTo>
                  <a:pt x="1783304" y="4259153"/>
                  <a:pt x="1229373" y="3910408"/>
                  <a:pt x="540354" y="3817187"/>
                </a:cubicBezTo>
                <a:cubicBezTo>
                  <a:pt x="359907" y="3797131"/>
                  <a:pt x="179768" y="3802888"/>
                  <a:pt x="0" y="383043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Picture 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846F15F4-7014-4E14-56B7-56D54599BA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15" t="-15152"/>
          <a:stretch/>
        </p:blipFill>
        <p:spPr>
          <a:xfrm rot="10800000" flipH="1">
            <a:off x="7432159" y="-25812"/>
            <a:ext cx="4767411" cy="837980"/>
          </a:xfrm>
          <a:prstGeom prst="rect">
            <a:avLst/>
          </a:prstGeom>
        </p:spPr>
      </p:pic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3A669BB6-5B89-62EF-E05B-39C24D4741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963474" y="5867628"/>
            <a:ext cx="4983673" cy="990372"/>
          </a:xfrm>
          <a:prstGeom prst="rect">
            <a:avLst/>
          </a:prstGeom>
        </p:spPr>
      </p:pic>
      <p:pic>
        <p:nvPicPr>
          <p:cNvPr id="11" name="Picture 10" descr="A colorful gradient shapes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6B7DEE27-0CA8-84BE-2C04-6FDB3E58813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4753929"/>
            <a:ext cx="5788201" cy="210407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9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53AAB7-5928-57F2-05DE-9C551FC2F2E3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39496"/>
            <a:ext cx="5961888" cy="152704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B8C22E1-E317-84DE-8D3D-93F1009D05F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6072" y="2112264"/>
            <a:ext cx="2618541" cy="4197096"/>
          </a:xfrm>
        </p:spPr>
        <p:txBody>
          <a:bodyPr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DB1F03-8346-3188-F1C7-B0A5E86F630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38728" y="2112264"/>
            <a:ext cx="2618541" cy="41970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EFF156F3-9A7D-EAA4-4F00-E693C2A3FE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85" b="-8059"/>
          <a:stretch/>
        </p:blipFill>
        <p:spPr>
          <a:xfrm rot="5400000">
            <a:off x="6813632" y="1479632"/>
            <a:ext cx="3355938" cy="74007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68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539496"/>
            <a:ext cx="6038397" cy="143560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2112264"/>
            <a:ext cx="2880567" cy="4197096"/>
          </a:xfrm>
        </p:spPr>
        <p:txBody>
          <a:bodyPr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3AEFBC-F09B-894B-CD7A-F9C372585AF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70065" y="2112264"/>
            <a:ext cx="3118104" cy="41970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EAB3AD9D-9B13-188E-617D-F1782596096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022196" y="2022197"/>
            <a:ext cx="6858000" cy="28136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57D6059-8E17-ABF1-8456-C15CE400B55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V="1">
            <a:off x="1635889" y="4247231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0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647433-270D-5D45-29E0-608311CA9701}"/>
              </a:ext>
            </a:extLst>
          </p:cNvPr>
          <p:cNvSpPr>
            <a:spLocks/>
          </p:cNvSpPr>
          <p:nvPr userDrawn="1"/>
        </p:nvSpPr>
        <p:spPr>
          <a:xfrm>
            <a:off x="5621925" y="1468626"/>
            <a:ext cx="4641637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4F7496-C504-BB47-EC59-97AAA92A07B8}"/>
              </a:ext>
            </a:extLst>
          </p:cNvPr>
          <p:cNvSpPr/>
          <p:nvPr userDrawn="1"/>
        </p:nvSpPr>
        <p:spPr>
          <a:xfrm>
            <a:off x="803567" y="1460959"/>
            <a:ext cx="4641638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14" name="Picture 13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32B92FA5-A482-D296-0300-0D794E5A1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008"/>
          <a:stretch/>
        </p:blipFill>
        <p:spPr>
          <a:xfrm rot="10800000">
            <a:off x="0" y="4603898"/>
            <a:ext cx="6148843" cy="2254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27920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98A1FC94-DC76-4D72-16F0-88E8D61960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15568" y="1883664"/>
            <a:ext cx="4014216" cy="3511296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defRPr lang="en-US" sz="1400" b="0" kern="12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Third level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1E2BE2C-1D19-F2FC-F91E-A2C7332586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4456" y="1883664"/>
            <a:ext cx="4014216" cy="351129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1400" b="1"/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buClr>
                <a:schemeClr val="tx2"/>
              </a:buClr>
              <a:defRPr sz="12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28C8D-2511-191A-0965-7E441EDA27B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E08F2-413A-87D7-FC7E-FA7C3282F7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E8ED2-48AE-58D3-898D-1C9D6D65A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22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6" y="539496"/>
            <a:ext cx="6958584" cy="143560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1965960"/>
            <a:ext cx="6629400" cy="8595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4039564" y="2962656"/>
            <a:ext cx="6539835" cy="3227387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" name="Picture 19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24AE729D-8A2D-FEFD-3B1F-8025FBBDD5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2219" t="5197"/>
          <a:stretch>
            <a:fillRect/>
          </a:stretch>
        </p:blipFill>
        <p:spPr>
          <a:xfrm rot="14400000">
            <a:off x="-2171467" y="2562333"/>
            <a:ext cx="6626421" cy="4182149"/>
          </a:xfrm>
          <a:custGeom>
            <a:avLst/>
            <a:gdLst>
              <a:gd name="connsiteX0" fmla="*/ 6626421 w 6626421"/>
              <a:gd name="connsiteY0" fmla="*/ 4182149 h 4182149"/>
              <a:gd name="connsiteX1" fmla="*/ 1319145 w 6626421"/>
              <a:gd name="connsiteY1" fmla="*/ 4182149 h 4182149"/>
              <a:gd name="connsiteX2" fmla="*/ 0 w 6626421"/>
              <a:gd name="connsiteY2" fmla="*/ 3420540 h 4182149"/>
              <a:gd name="connsiteX3" fmla="*/ 1974850 w 6626421"/>
              <a:gd name="connsiteY3" fmla="*/ 0 h 4182149"/>
              <a:gd name="connsiteX4" fmla="*/ 6626421 w 6626421"/>
              <a:gd name="connsiteY4" fmla="*/ 2685586 h 418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6421" h="4182149">
                <a:moveTo>
                  <a:pt x="6626421" y="4182149"/>
                </a:moveTo>
                <a:lnTo>
                  <a:pt x="1319145" y="4182149"/>
                </a:lnTo>
                <a:lnTo>
                  <a:pt x="0" y="3420540"/>
                </a:lnTo>
                <a:lnTo>
                  <a:pt x="1974850" y="0"/>
                </a:lnTo>
                <a:lnTo>
                  <a:pt x="6626421" y="2685586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2DA2EC6-9201-16D6-4C20-0FB5854C2C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273050" y="251298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9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43560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804672" y="1472184"/>
            <a:ext cx="9537192" cy="3922776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 descr="A colorful liquid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9D6252C-CE9A-ABBD-43D8-62F708B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-3380" y="5552387"/>
            <a:ext cx="3785031" cy="1310811"/>
          </a:xfrm>
          <a:prstGeom prst="rect">
            <a:avLst/>
          </a:prstGeom>
        </p:spPr>
      </p:pic>
      <p:pic>
        <p:nvPicPr>
          <p:cNvPr id="9" name="Picture 8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C975A1D6-EEFF-C8C1-AC72-68C09285D5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686580" y="-9167"/>
            <a:ext cx="5538171" cy="225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33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1AC4E5-2B89-481E-46B9-A867F5699CEE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C425D3D8-6FFB-E26C-2DDC-EAE565DDDD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76" t="13872" r="4114" b="8199"/>
          <a:stretch/>
        </p:blipFill>
        <p:spPr>
          <a:xfrm rot="10800000">
            <a:off x="-2" y="-2"/>
            <a:ext cx="10838727" cy="685800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B0B6FA5-0AFE-69A5-2CE6-27D1CBF5F0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3365" y="1390616"/>
            <a:ext cx="849017" cy="97803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CA221E3-E5C1-6778-BDF2-B5527950BB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2015" y="4219529"/>
            <a:ext cx="849017" cy="97803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8EF24DD3-EDCB-7DE8-426A-6EFA267D6B0C}"/>
              </a:ext>
            </a:extLst>
          </p:cNvPr>
          <p:cNvSpPr/>
          <p:nvPr userDrawn="1"/>
        </p:nvSpPr>
        <p:spPr>
          <a:xfrm>
            <a:off x="4233672" y="152704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958D5F2-B610-B25E-1D2D-71EC79D2A9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400" y="1645920"/>
            <a:ext cx="2377440" cy="237744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1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650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1650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10260076" y="3233420"/>
            <a:ext cx="3098800" cy="594360"/>
          </a:xfrm>
          <a:prstGeom prst="rect">
            <a:avLst/>
          </a:prstGeom>
        </p:spPr>
        <p:txBody>
          <a:bodyPr vert="horz" lIns="0" tIns="45720" rIns="91440" bIns="45720" rtlCol="0" anchor="t"/>
          <a:lstStyle>
            <a:lvl1pPr algn="ctr">
              <a:defRPr sz="12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274552" y="5632704"/>
            <a:ext cx="1069848" cy="594360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4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fld id="{98C0CDE5-970C-4CC4-BF43-0DA127E73E8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1359C3-8CE4-C25B-8E46-AFFF9EADFF92}"/>
              </a:ext>
            </a:extLst>
          </p:cNvPr>
          <p:cNvCxnSpPr/>
          <p:nvPr/>
        </p:nvCxnSpPr>
        <p:spPr>
          <a:xfrm>
            <a:off x="11091672" y="0"/>
            <a:ext cx="0" cy="684570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9B11C67-3806-82B6-01D7-1583184D5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161152" y="745184"/>
            <a:ext cx="1296648" cy="59436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03D7F5-3FA4-3B64-ACA2-1AB08CDC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2512" y="1039091"/>
            <a:ext cx="6830568" cy="4497185"/>
          </a:xfrm>
        </p:spPr>
        <p:txBody>
          <a:bodyPr>
            <a:normAutofit/>
          </a:bodyPr>
          <a:lstStyle/>
          <a:p>
            <a:r>
              <a:rPr lang="en-US" sz="7200" dirty="0"/>
              <a:t>Learn React</a:t>
            </a:r>
          </a:p>
        </p:txBody>
      </p:sp>
    </p:spTree>
    <p:extLst>
      <p:ext uri="{BB962C8B-B14F-4D97-AF65-F5344CB8AC3E}">
        <p14:creationId xmlns:p14="http://schemas.microsoft.com/office/powerpoint/2010/main" val="279862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4722E1-DC3F-7BE5-7E67-22CDD364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573" y="1677091"/>
            <a:ext cx="7335982" cy="2240281"/>
          </a:xfrm>
        </p:spPr>
        <p:txBody>
          <a:bodyPr>
            <a:normAutofit/>
          </a:bodyPr>
          <a:lstStyle/>
          <a:p>
            <a:r>
              <a:rPr lang="en-US" sz="6000" dirty="0"/>
              <a:t>Functional Components</a:t>
            </a:r>
          </a:p>
        </p:txBody>
      </p:sp>
    </p:spTree>
    <p:extLst>
      <p:ext uri="{BB962C8B-B14F-4D97-AF65-F5344CB8AC3E}">
        <p14:creationId xmlns:p14="http://schemas.microsoft.com/office/powerpoint/2010/main" val="173365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84624-8AC8-38D6-FD01-42D4DEFF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8B19CC43-F36D-7117-C58E-42B5AEA2D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285750"/>
            <a:ext cx="9475470" cy="994410"/>
          </a:xfrm>
        </p:spPr>
        <p:txBody>
          <a:bodyPr>
            <a:normAutofit fontScale="90000"/>
          </a:bodyPr>
          <a:lstStyle/>
          <a:p>
            <a:r>
              <a:rPr lang="en-US" dirty="0"/>
              <a:t>Server Components Vs Client Components</a:t>
            </a:r>
            <a:br>
              <a:rPr lang="fa-IR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1ACF6-A994-B907-FB50-F71415F344B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8670" y="1574657"/>
            <a:ext cx="4663440" cy="4654692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1800" dirty="0"/>
              <a:t>Server Components</a:t>
            </a:r>
            <a:endParaRPr lang="fa-IR" sz="1800" dirty="0"/>
          </a:p>
          <a:p>
            <a:pPr marL="0" indent="0" algn="r">
              <a:buNone/>
            </a:pPr>
            <a:r>
              <a:rPr lang="fa-IR" sz="1800" dirty="0"/>
              <a:t>کامپوننت‌هایی که فقط در سرور اجرا می‌شوند.</a:t>
            </a:r>
          </a:p>
          <a:p>
            <a:pPr marL="0" indent="0" algn="r">
              <a:buNone/>
            </a:pPr>
            <a:r>
              <a:rPr lang="fa-IR" sz="1800" dirty="0"/>
              <a:t>✔ویژگی ها</a:t>
            </a:r>
          </a:p>
          <a:p>
            <a:pPr marL="0" indent="0" algn="r">
              <a:buNone/>
            </a:pPr>
            <a:r>
              <a:rPr lang="fa-IR" sz="1800" dirty="0"/>
              <a:t>مستقیم به دیتابیس وصل شوند</a:t>
            </a:r>
          </a:p>
          <a:p>
            <a:pPr marL="0" indent="0" algn="r">
              <a:buNone/>
            </a:pPr>
            <a:r>
              <a:rPr lang="fa-IR" sz="1800" dirty="0"/>
              <a:t>کوئری </a:t>
            </a:r>
            <a:r>
              <a:rPr lang="en-US" sz="1800" dirty="0"/>
              <a:t>SQL </a:t>
            </a:r>
            <a:r>
              <a:rPr lang="fa-IR" sz="1800" dirty="0"/>
              <a:t>بزنند</a:t>
            </a:r>
          </a:p>
          <a:p>
            <a:pPr marL="0" indent="0" algn="r">
              <a:buNone/>
            </a:pPr>
            <a:r>
              <a:rPr lang="fa-IR" sz="1800" dirty="0"/>
              <a:t>از </a:t>
            </a:r>
            <a:r>
              <a:rPr lang="en-US" sz="1800" dirty="0"/>
              <a:t>API</a:t>
            </a:r>
            <a:r>
              <a:rPr lang="fa-IR" sz="1800" dirty="0"/>
              <a:t>های محرمانه استفاده کنند</a:t>
            </a:r>
          </a:p>
          <a:p>
            <a:pPr marL="0" indent="0" algn="r">
              <a:buNone/>
            </a:pPr>
            <a:r>
              <a:rPr lang="fa-IR" sz="1800" dirty="0"/>
              <a:t>انجام دهند</a:t>
            </a:r>
          </a:p>
          <a:p>
            <a:pPr marL="0" indent="0" algn="r">
              <a:buNone/>
            </a:pPr>
            <a:r>
              <a:rPr lang="fa-IR" sz="1800" dirty="0"/>
              <a:t>سریع‌تر و سبک‌تر هستند.</a:t>
            </a:r>
          </a:p>
          <a:p>
            <a:pPr marL="0" indent="0" algn="r">
              <a:buNone/>
            </a:pPr>
            <a:endParaRPr lang="fa-IR" sz="1800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8493AF1-89DC-87E9-D6C3-9D562A9345E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4456" y="1574657"/>
            <a:ext cx="4133180" cy="4770724"/>
          </a:xfrm>
        </p:spPr>
        <p:txBody>
          <a:bodyPr>
            <a:noAutofit/>
          </a:bodyPr>
          <a:lstStyle/>
          <a:p>
            <a:pPr algn="r"/>
            <a:r>
              <a:rPr lang="en-US" sz="1800" b="0" dirty="0"/>
              <a:t>Client Components</a:t>
            </a:r>
            <a:endParaRPr lang="fa-IR" sz="1800" b="0" dirty="0"/>
          </a:p>
          <a:p>
            <a:pPr algn="r"/>
            <a:r>
              <a:rPr lang="fa-IR" sz="1800" b="0" dirty="0"/>
              <a:t>کامپوننت‌هایی که در مرورگر اجرا می‌شوند.</a:t>
            </a:r>
          </a:p>
          <a:p>
            <a:pPr algn="r"/>
            <a:r>
              <a:rPr lang="fa-IR" sz="1800" b="0" dirty="0"/>
              <a:t>✔ ویژگی‌ها</a:t>
            </a:r>
          </a:p>
          <a:p>
            <a:pPr algn="r"/>
            <a:r>
              <a:rPr lang="fa-IR" sz="1800" b="0" dirty="0"/>
              <a:t>برای </a:t>
            </a:r>
            <a:r>
              <a:rPr lang="fa-IR" sz="1800" b="0" dirty="0">
                <a:cs typeface="B Nazanin" panose="00000400000000000000" pitchFamily="2" charset="-78"/>
              </a:rPr>
              <a:t>تعامل</a:t>
            </a:r>
            <a:r>
              <a:rPr lang="fa-IR" sz="1800" b="0" dirty="0"/>
              <a:t> کاربر لازم‌اند:</a:t>
            </a:r>
          </a:p>
          <a:p>
            <a:pPr algn="r"/>
            <a:r>
              <a:rPr lang="en-US" sz="1800" b="0" dirty="0"/>
              <a:t>onClick, onChange, useState, useEffect</a:t>
            </a:r>
          </a:p>
          <a:p>
            <a:pPr algn="r"/>
            <a:r>
              <a:rPr lang="fa-IR" sz="1800" b="0" dirty="0"/>
              <a:t>مناسب برای:</a:t>
            </a:r>
          </a:p>
          <a:p>
            <a:pPr algn="r"/>
            <a:r>
              <a:rPr lang="fa-IR" sz="1800" b="0" dirty="0"/>
              <a:t>فرم‌ها</a:t>
            </a:r>
          </a:p>
          <a:p>
            <a:pPr algn="r"/>
            <a:r>
              <a:rPr lang="fa-IR" sz="1800" b="0" dirty="0"/>
              <a:t>مودال‌ها</a:t>
            </a:r>
          </a:p>
          <a:p>
            <a:pPr algn="r"/>
            <a:r>
              <a:rPr lang="fa-IR" sz="1800" b="0" dirty="0"/>
              <a:t>انیمیشن‌ها</a:t>
            </a:r>
          </a:p>
          <a:p>
            <a:pPr algn="r"/>
            <a:r>
              <a:rPr lang="en-US" sz="1800" b="0" dirty="0"/>
              <a:t>Drag &amp; Drop</a:t>
            </a:r>
          </a:p>
          <a:p>
            <a:pPr algn="r"/>
            <a:r>
              <a:rPr lang="fa-IR" sz="1800" b="0" dirty="0"/>
              <a:t>داشبوردهای </a:t>
            </a:r>
            <a:r>
              <a:rPr lang="en-US" sz="1800" b="0" dirty="0"/>
              <a:t>real-time</a:t>
            </a:r>
          </a:p>
        </p:txBody>
      </p:sp>
    </p:spTree>
    <p:extLst>
      <p:ext uri="{BB962C8B-B14F-4D97-AF65-F5344CB8AC3E}">
        <p14:creationId xmlns:p14="http://schemas.microsoft.com/office/powerpoint/2010/main" val="1641489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A77E8-CC11-4700-8B43-9AEEBB910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37F19172-0113-1997-5E8A-CC1DAE7E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59468" cy="868680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Functional Components vs Class Components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9D4BCB-963D-A867-66B9-A7A5081F64F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277" y="1690688"/>
            <a:ext cx="4014216" cy="4654693"/>
          </a:xfrm>
        </p:spPr>
        <p:txBody>
          <a:bodyPr/>
          <a:lstStyle/>
          <a:p>
            <a:pPr marL="0" indent="0" font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176F324-DAC6-318C-7458-DEC15479E4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4456" y="1690689"/>
            <a:ext cx="4133180" cy="4654692"/>
          </a:xfrm>
        </p:spPr>
        <p:txBody>
          <a:bodyPr>
            <a:normAutofit/>
          </a:bodyPr>
          <a:lstStyle/>
          <a:p>
            <a:r>
              <a:rPr lang="en-US" sz="1600" dirty="0">
                <a:cs typeface="B Nazanin" panose="00000400000000000000" pitchFamily="2" charset="-78"/>
              </a:rPr>
              <a:t>function MyComp(props) { return &lt;div&gt;…&lt;/div&gt;; } const MyComp = (props) =&gt; { … }</a:t>
            </a:r>
          </a:p>
          <a:p>
            <a:r>
              <a:rPr lang="en-US" sz="1600" dirty="0">
                <a:cs typeface="B Nazanin" panose="00000400000000000000" pitchFamily="2" charset="-78"/>
              </a:rPr>
              <a:t>const [state, setState] = useState(...)</a:t>
            </a:r>
            <a:endParaRPr lang="fa-IR" sz="1600" dirty="0">
              <a:cs typeface="B Nazanin" panose="00000400000000000000" pitchFamily="2" charset="-78"/>
            </a:endParaRPr>
          </a:p>
          <a:p>
            <a:r>
              <a:rPr lang="en-US" sz="1600" dirty="0">
                <a:cs typeface="B Nazanin" panose="00000400000000000000" pitchFamily="2" charset="-78"/>
              </a:rPr>
              <a:t>useEffect(...) </a:t>
            </a:r>
          </a:p>
          <a:p>
            <a:endParaRPr lang="en-US" sz="1600" dirty="0">
              <a:cs typeface="B Nazanin" panose="00000400000000000000" pitchFamily="2" charset="-78"/>
            </a:endParaRPr>
          </a:p>
          <a:p>
            <a:endParaRPr lang="en-US" sz="1600" dirty="0">
              <a:cs typeface="B Nazanin" panose="00000400000000000000" pitchFamily="2" charset="-78"/>
            </a:endParaRPr>
          </a:p>
          <a:p>
            <a:pPr fontAlgn="ctr"/>
            <a:r>
              <a:rPr lang="en-US" sz="1600" dirty="0"/>
              <a:t>class MyComp extends React.Component { render() { … } }</a:t>
            </a:r>
            <a:endParaRPr lang="fa-IR" sz="1600" dirty="0"/>
          </a:p>
          <a:p>
            <a:pPr fontAlgn="ctr"/>
            <a:r>
              <a:rPr lang="en-US" sz="1600" dirty="0">
                <a:cs typeface="B Nazanin" panose="00000400000000000000" pitchFamily="2" charset="-78"/>
              </a:rPr>
              <a:t>this.state </a:t>
            </a:r>
            <a:r>
              <a:rPr lang="fa-IR" sz="1600" dirty="0">
                <a:cs typeface="B Nazanin" panose="00000400000000000000" pitchFamily="2" charset="-78"/>
              </a:rPr>
              <a:t>و </a:t>
            </a:r>
            <a:r>
              <a:rPr lang="en-US" sz="1600" dirty="0">
                <a:cs typeface="B Nazanin" panose="00000400000000000000" pitchFamily="2" charset="-78"/>
              </a:rPr>
              <a:t>this.setState(...)</a:t>
            </a:r>
            <a:endParaRPr lang="fa-IR" sz="1600" dirty="0">
              <a:cs typeface="B Nazanin" panose="00000400000000000000" pitchFamily="2" charset="-78"/>
            </a:endParaRPr>
          </a:p>
          <a:p>
            <a:pPr fontAlgn="ctr"/>
            <a:r>
              <a:rPr lang="en-US" sz="1600" dirty="0">
                <a:cs typeface="B Nazanin" panose="00000400000000000000" pitchFamily="2" charset="-78"/>
              </a:rPr>
              <a:t>componentDidMount, componentDidUpdate, componentWillUnmount</a:t>
            </a:r>
          </a:p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FB1E0-16EF-16BD-5A6C-7E57C8A884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E22412-FB4C-1589-B433-C921D3E14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451610"/>
            <a:ext cx="4658868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22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0CF1E-4EB6-B86D-82E7-EA01E606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Placeholder 16">
            <a:extLst>
              <a:ext uri="{FF2B5EF4-FFF2-40B4-BE49-F238E27FC236}">
                <a16:creationId xmlns:a16="http://schemas.microsoft.com/office/drawing/2014/main" id="{4924A914-775F-4791-A9BB-95D9A7D66DAE}"/>
              </a:ext>
            </a:extLst>
          </p:cNvPr>
          <p:cNvGraphicFramePr>
            <a:graphicFrameLocks noGrp="1"/>
          </p:cNvGraphicFramePr>
          <p:nvPr>
            <p:ph type="tbl" sz="quarter" idx="18"/>
            <p:extLst>
              <p:ext uri="{D42A27DB-BD31-4B8C-83A1-F6EECF244321}">
                <p14:modId xmlns:p14="http://schemas.microsoft.com/office/powerpoint/2010/main" val="1384184339"/>
              </p:ext>
            </p:extLst>
          </p:nvPr>
        </p:nvGraphicFramePr>
        <p:xfrm>
          <a:off x="617220" y="891540"/>
          <a:ext cx="9864089" cy="463930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95590">
                  <a:extLst>
                    <a:ext uri="{9D8B030D-6E8A-4147-A177-3AD203B41FA5}">
                      <a16:colId xmlns:a16="http://schemas.microsoft.com/office/drawing/2014/main" val="3837835899"/>
                    </a:ext>
                  </a:extLst>
                </a:gridCol>
                <a:gridCol w="3887800">
                  <a:extLst>
                    <a:ext uri="{9D8B030D-6E8A-4147-A177-3AD203B41FA5}">
                      <a16:colId xmlns:a16="http://schemas.microsoft.com/office/drawing/2014/main" val="424964062"/>
                    </a:ext>
                  </a:extLst>
                </a:gridCol>
                <a:gridCol w="3780699">
                  <a:extLst>
                    <a:ext uri="{9D8B030D-6E8A-4147-A177-3AD203B41FA5}">
                      <a16:colId xmlns:a16="http://schemas.microsoft.com/office/drawing/2014/main" val="178668634"/>
                    </a:ext>
                  </a:extLst>
                </a:gridCol>
              </a:tblGrid>
              <a:tr h="3325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 dirty="0"/>
                        <a:t>موضوع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Functional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98388"/>
                  </a:ext>
                </a:extLst>
              </a:tr>
              <a:tr h="3325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استفاده از </a:t>
                      </a:r>
                      <a:r>
                        <a:rPr lang="en-US"/>
                        <a:t>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useState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this.state </a:t>
                      </a:r>
                      <a:r>
                        <a:rPr lang="fa-IR" dirty="0"/>
                        <a:t>و </a:t>
                      </a:r>
                      <a:r>
                        <a:rPr lang="en-US" dirty="0"/>
                        <a:t>setState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51091"/>
                  </a:ext>
                </a:extLst>
              </a:tr>
              <a:tr h="8313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Lifecycle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useEffect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componentDidMount, componentDidUpdate, componentWillUnmount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964612"/>
                  </a:ext>
                </a:extLst>
              </a:tr>
              <a:tr h="3325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سریع‌تر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کندتر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8265373"/>
                  </a:ext>
                </a:extLst>
              </a:tr>
              <a:tr h="3325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کد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خیلی کوتاه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طولانی‌تر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780920"/>
                  </a:ext>
                </a:extLst>
              </a:tr>
              <a:tr h="4616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هوک‌ها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✔ دارد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✖ ندارد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952247"/>
                  </a:ext>
                </a:extLst>
              </a:tr>
              <a:tr h="6000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this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نیاز ندارد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لازم است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78758"/>
                  </a:ext>
                </a:extLst>
              </a:tr>
              <a:tr h="6000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خوانایی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بالا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/>
                        <a:t>پایین‌تر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868308"/>
                  </a:ext>
                </a:extLst>
              </a:tr>
              <a:tr h="6000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a-I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fa-I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28643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8D13658-B37D-E380-3178-4A0F41441233}"/>
              </a:ext>
            </a:extLst>
          </p:cNvPr>
          <p:cNvSpPr txBox="1"/>
          <p:nvPr/>
        </p:nvSpPr>
        <p:spPr>
          <a:xfrm>
            <a:off x="617220" y="205741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njoman Max ExBold" pitchFamily="2" charset="-78"/>
                <a:cs typeface="Anjoman Max ExBold" pitchFamily="2" charset="-78"/>
              </a:rPr>
              <a:t>Functional Components vs Class Components</a:t>
            </a:r>
            <a:br>
              <a:rPr lang="en-US" sz="2400" dirty="0">
                <a:latin typeface="Anjoman Max ExBold" pitchFamily="2" charset="-78"/>
                <a:cs typeface="Anjoman Max ExBold" pitchFamily="2" charset="-78"/>
              </a:rPr>
            </a:br>
            <a:endParaRPr lang="en-US" sz="2400" b="1" dirty="0">
              <a:latin typeface="Anjoman Max ExBold" pitchFamily="2" charset="-78"/>
              <a:cs typeface="Anjoman Max ExBol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938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2800E4-16F4-4C03-CA7F-B04CEF62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0945" y="2505456"/>
            <a:ext cx="5600700" cy="2331720"/>
          </a:xfrm>
        </p:spPr>
        <p:txBody>
          <a:bodyPr/>
          <a:lstStyle/>
          <a:p>
            <a:r>
              <a:rPr lang="fa-IR" dirty="0"/>
              <a:t>چرا از هوک ها استفاده کنیم؟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F9B83-490C-3390-781C-B483ED3B5FB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1861127"/>
            <a:ext cx="4738438" cy="28263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 algn="r">
              <a:buNone/>
              <a:defRPr sz="2000"/>
            </a:pPr>
            <a:r>
              <a:rPr lang="fa-IR" sz="2400" dirty="0">
                <a:cs typeface="B Nazanin" panose="00000400000000000000" pitchFamily="2" charset="-78"/>
              </a:rPr>
              <a:t>• ساده‌تر شدن کدها</a:t>
            </a:r>
            <a:br>
              <a:rPr lang="fa-IR" sz="2400" dirty="0">
                <a:cs typeface="B Nazanin" panose="00000400000000000000" pitchFamily="2" charset="-78"/>
              </a:rPr>
            </a:br>
            <a:r>
              <a:rPr lang="fa-IR" sz="2400" dirty="0">
                <a:cs typeface="B Nazanin" panose="00000400000000000000" pitchFamily="2" charset="-78"/>
              </a:rPr>
              <a:t>• حذف نیاز به کلاس‌ها</a:t>
            </a:r>
            <a:br>
              <a:rPr lang="fa-IR" sz="2400" dirty="0">
                <a:cs typeface="B Nazanin" panose="00000400000000000000" pitchFamily="2" charset="-78"/>
              </a:rPr>
            </a:br>
            <a:r>
              <a:rPr lang="fa-IR" sz="2400" dirty="0">
                <a:cs typeface="B Nazanin" panose="00000400000000000000" pitchFamily="2" charset="-78"/>
              </a:rPr>
              <a:t>• اشتراک‌گذاری منطق بین کامپوننت‌ها</a:t>
            </a:r>
            <a:br>
              <a:rPr lang="fa-IR" sz="2400" dirty="0">
                <a:cs typeface="B Nazanin" panose="00000400000000000000" pitchFamily="2" charset="-78"/>
              </a:rPr>
            </a:br>
            <a:r>
              <a:rPr lang="fa-IR" sz="2400" dirty="0">
                <a:cs typeface="B Nazanin" panose="00000400000000000000" pitchFamily="2" charset="-78"/>
              </a:rPr>
              <a:t>• افزایش خوانایی و قابلیت تست</a:t>
            </a:r>
          </a:p>
          <a:p>
            <a:endParaRPr lang="en-US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534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80A29B-87B6-29C9-2295-D36B76DC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UseState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883BF-4B40-D127-19A6-0A65D2A25EA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6254" y="1211580"/>
            <a:ext cx="4931065" cy="4834890"/>
          </a:xfrm>
        </p:spPr>
        <p:txBody>
          <a:bodyPr>
            <a:normAutofit fontScale="25000" lnSpcReduction="20000"/>
          </a:bodyPr>
          <a:lstStyle/>
          <a:p>
            <a:endParaRPr lang="fa-IR" dirty="0"/>
          </a:p>
          <a:p>
            <a:pPr marL="0" indent="0">
              <a:buNone/>
              <a:defRPr sz="2000"/>
            </a:pPr>
            <a:br>
              <a:rPr lang="fa-IR" sz="4200" dirty="0"/>
            </a:br>
            <a:r>
              <a:rPr lang="en-US" altLang="en-US" sz="8000" i="1" dirty="0">
                <a:solidFill>
                  <a:srgbClr val="FF0000"/>
                </a:solidFill>
                <a:latin typeface="Menlo"/>
              </a:rPr>
              <a:t>// (Class)</a:t>
            </a:r>
            <a:r>
              <a:rPr lang="en-US" altLang="en-US" sz="8000" dirty="0">
                <a:solidFill>
                  <a:srgbClr val="FF0000"/>
                </a:solidFill>
                <a:latin typeface="Menlo"/>
              </a:rPr>
              <a:t> </a:t>
            </a:r>
            <a:endParaRPr lang="fa-IR" altLang="en-US" sz="8000" dirty="0">
              <a:solidFill>
                <a:srgbClr val="FF0000"/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 err="1">
                <a:solidFill>
                  <a:srgbClr val="FF0000"/>
                </a:solidFill>
                <a:latin typeface="Menlo"/>
              </a:rPr>
              <a:t>this.state</a:t>
            </a:r>
            <a:r>
              <a:rPr lang="en-US" altLang="en-US" sz="8000" dirty="0">
                <a:solidFill>
                  <a:srgbClr val="FF0000"/>
                </a:solidFill>
                <a:latin typeface="Menlo"/>
              </a:rPr>
              <a:t> = { </a:t>
            </a:r>
            <a:endParaRPr lang="fa-IR" altLang="en-US" sz="8000" dirty="0">
              <a:solidFill>
                <a:srgbClr val="FF0000"/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 err="1">
                <a:solidFill>
                  <a:srgbClr val="FF0000"/>
                </a:solidFill>
                <a:latin typeface="Menlo"/>
              </a:rPr>
              <a:t>isLoading</a:t>
            </a:r>
            <a:r>
              <a:rPr lang="en-US" altLang="en-US" sz="8000" dirty="0">
                <a:solidFill>
                  <a:srgbClr val="FF0000"/>
                </a:solidFill>
                <a:latin typeface="Menlo"/>
              </a:rPr>
              <a:t>: true, </a:t>
            </a:r>
            <a:endParaRPr lang="fa-IR" altLang="en-US" sz="8000" dirty="0">
              <a:solidFill>
                <a:srgbClr val="FF0000"/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>
                <a:solidFill>
                  <a:srgbClr val="FF0000"/>
                </a:solidFill>
                <a:latin typeface="Menlo"/>
              </a:rPr>
              <a:t>item: null</a:t>
            </a:r>
            <a:endParaRPr lang="fa-IR" altLang="en-US" sz="8000" dirty="0">
              <a:solidFill>
                <a:srgbClr val="FF0000"/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>
                <a:solidFill>
                  <a:srgbClr val="FF0000"/>
                </a:solidFill>
                <a:latin typeface="Menlo"/>
              </a:rPr>
              <a:t>};</a:t>
            </a:r>
            <a:endParaRPr lang="fa-IR" altLang="en-US" sz="8000" dirty="0">
              <a:solidFill>
                <a:srgbClr val="FF0000"/>
              </a:solidFill>
              <a:latin typeface="Menlo"/>
            </a:endParaRPr>
          </a:p>
          <a:p>
            <a:pPr marL="0" indent="0">
              <a:buNone/>
              <a:defRPr sz="2000"/>
            </a:pPr>
            <a:endParaRPr lang="fa-IR" altLang="en-US" sz="8000" dirty="0">
              <a:solidFill>
                <a:srgbClr val="383A42"/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 </a:t>
            </a:r>
            <a:r>
              <a:rPr lang="en-US" altLang="en-US" sz="8000" i="1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// (Functional)</a:t>
            </a: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 </a:t>
            </a:r>
            <a:endParaRPr lang="fa-IR" altLang="en-US" sz="8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const [state, </a:t>
            </a:r>
            <a:r>
              <a:rPr lang="en-US" altLang="en-US" sz="8000" dirty="0" err="1">
                <a:solidFill>
                  <a:schemeClr val="accent3">
                    <a:lumMod val="75000"/>
                  </a:schemeClr>
                </a:solidFill>
                <a:latin typeface="Menlo"/>
              </a:rPr>
              <a:t>setState</a:t>
            </a: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] = </a:t>
            </a:r>
            <a:r>
              <a:rPr lang="en-US" altLang="en-US" sz="8000" dirty="0" err="1">
                <a:solidFill>
                  <a:schemeClr val="accent3">
                    <a:lumMod val="75000"/>
                  </a:schemeClr>
                </a:solidFill>
                <a:latin typeface="Menlo"/>
              </a:rPr>
              <a:t>useState</a:t>
            </a: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({ </a:t>
            </a:r>
            <a:endParaRPr lang="fa-IR" altLang="en-US" sz="8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 err="1">
                <a:solidFill>
                  <a:schemeClr val="accent3">
                    <a:lumMod val="75000"/>
                  </a:schemeClr>
                </a:solidFill>
                <a:latin typeface="Menlo"/>
              </a:rPr>
              <a:t>isLoading</a:t>
            </a: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: true, </a:t>
            </a:r>
            <a:endParaRPr lang="fa-IR" altLang="en-US" sz="8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item: null</a:t>
            </a:r>
            <a:endParaRPr lang="fa-IR" altLang="en-US" sz="8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>
              <a:buNone/>
              <a:defRPr sz="2000"/>
            </a:pP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 });</a:t>
            </a:r>
            <a:r>
              <a:rPr lang="en-US" altLang="en-US" sz="8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altLang="en-US" sz="8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  <a:defRPr sz="2000"/>
            </a:pP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1FC143-FA9C-6F20-7583-F7B0FA8FF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23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CE40D-F864-9A0C-356E-0A7FBBF7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20D011-9BE9-2482-2791-CC29C2C48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</a:t>
            </a:r>
            <a:r>
              <a:rPr lang="en-US" dirty="0">
                <a:cs typeface="B Nazanin" panose="00000400000000000000" pitchFamily="2" charset="-78"/>
              </a:rPr>
              <a:t>Ref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BABEA-DA17-0DCB-36EF-D2D6D612A9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4873" y="988291"/>
            <a:ext cx="4931065" cy="4719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i="1" dirty="0">
                <a:solidFill>
                  <a:srgbClr val="FF0000"/>
                </a:solidFill>
                <a:latin typeface="Menlo"/>
              </a:rPr>
              <a:t>// (Class)</a:t>
            </a:r>
            <a:r>
              <a:rPr lang="en-US" altLang="en-US" sz="2000" dirty="0">
                <a:solidFill>
                  <a:srgbClr val="FF0000"/>
                </a:solidFill>
                <a:latin typeface="Menlo"/>
              </a:rPr>
              <a:t> </a:t>
            </a:r>
            <a:endParaRPr lang="fa-IR" altLang="en-US" sz="2000" dirty="0">
              <a:solidFill>
                <a:srgbClr val="FF0000"/>
              </a:solidFill>
              <a:latin typeface="Menlo"/>
            </a:endParaRPr>
          </a:p>
          <a:p>
            <a:pPr marL="0" indent="0">
              <a:buNone/>
            </a:pPr>
            <a:r>
              <a:rPr lang="en-US" altLang="en-US" sz="2000" dirty="0" err="1">
                <a:solidFill>
                  <a:srgbClr val="FF0000"/>
                </a:solidFill>
                <a:latin typeface="Menlo"/>
              </a:rPr>
              <a:t>this.notificationSystem</a:t>
            </a:r>
            <a:r>
              <a:rPr lang="en-US" altLang="en-US" sz="2000" dirty="0">
                <a:solidFill>
                  <a:srgbClr val="FF0000"/>
                </a:solidFill>
                <a:latin typeface="Menlo"/>
              </a:rPr>
              <a:t> = </a:t>
            </a:r>
            <a:r>
              <a:rPr lang="en-US" altLang="en-US" sz="2000" dirty="0" err="1">
                <a:solidFill>
                  <a:srgbClr val="FF0000"/>
                </a:solidFill>
                <a:latin typeface="Menlo"/>
              </a:rPr>
              <a:t>React.createRef</a:t>
            </a:r>
            <a:r>
              <a:rPr lang="en-US" altLang="en-US" sz="2000" dirty="0">
                <a:solidFill>
                  <a:srgbClr val="FF0000"/>
                </a:solidFill>
                <a:latin typeface="Menlo"/>
              </a:rPr>
              <a:t>(); </a:t>
            </a:r>
            <a:endParaRPr lang="fa-IR" altLang="en-US" sz="2000" dirty="0">
              <a:solidFill>
                <a:srgbClr val="FF0000"/>
              </a:solidFill>
              <a:latin typeface="Menlo"/>
            </a:endParaRPr>
          </a:p>
          <a:p>
            <a:pPr marL="0" indent="0">
              <a:buNone/>
            </a:pPr>
            <a:endParaRPr lang="fa-IR" altLang="en-US" sz="2000" dirty="0">
              <a:solidFill>
                <a:srgbClr val="0F1115"/>
              </a:solidFill>
              <a:latin typeface="Menlo"/>
            </a:endParaRPr>
          </a:p>
          <a:p>
            <a:pPr marL="0" indent="0">
              <a:buNone/>
            </a:pPr>
            <a:r>
              <a:rPr lang="en-US" altLang="en-US" sz="2000" i="1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// (Functional) </a:t>
            </a:r>
            <a:endParaRPr lang="fa-IR" altLang="en-US" sz="2000" i="1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const </a:t>
            </a:r>
            <a:r>
              <a:rPr lang="en-US" altLang="en-US" sz="2000" dirty="0" err="1">
                <a:solidFill>
                  <a:schemeClr val="accent3">
                    <a:lumMod val="75000"/>
                  </a:schemeClr>
                </a:solidFill>
                <a:latin typeface="Menlo"/>
              </a:rPr>
              <a:t>notificationSystem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 =</a:t>
            </a:r>
            <a:r>
              <a:rPr lang="en-US" altLang="en-US" sz="2000" dirty="0" err="1">
                <a:solidFill>
                  <a:schemeClr val="accent3">
                    <a:lumMod val="75000"/>
                  </a:schemeClr>
                </a:solidFill>
                <a:latin typeface="Menlo"/>
              </a:rPr>
              <a:t>useRef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();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en-US" altLang="en-US" sz="2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943478-4ED0-3744-CE98-EC56A1C16F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60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348D-A448-8460-A3AC-C681F961A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36BB95-1CA0-75F7-D422-6BDEDDFC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UseEffect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196E6-FB5B-692A-2C7F-FCBF0D048F8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4873" y="948690"/>
            <a:ext cx="4746337" cy="4834890"/>
          </a:xfrm>
        </p:spPr>
        <p:txBody>
          <a:bodyPr>
            <a:normAutofit/>
          </a:bodyPr>
          <a:lstStyle/>
          <a:p>
            <a:pPr marL="0" indent="0" algn="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fa-IR" altLang="en-US" sz="2000" i="1" dirty="0">
                <a:solidFill>
                  <a:schemeClr val="tx1"/>
                </a:solidFill>
                <a:latin typeface="Menlo"/>
              </a:rPr>
              <a:t>با وابستگی یا </a:t>
            </a:r>
            <a:r>
              <a:rPr lang="fa-IR" dirty="0"/>
              <a:t>وقتی متغیر خاصی تغییر کند</a:t>
            </a:r>
            <a:r>
              <a:rPr lang="fa-IR" altLang="en-US" sz="2000" i="1" dirty="0">
                <a:solidFill>
                  <a:schemeClr val="tx1"/>
                </a:solidFill>
                <a:latin typeface="Menlo"/>
              </a:rPr>
              <a:t>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altLang="en-US" sz="2000" i="1" dirty="0">
              <a:solidFill>
                <a:srgbClr val="FF0000"/>
              </a:solidFill>
              <a:latin typeface="Menlo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altLang="en-US" sz="2000" i="1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 </a:t>
            </a:r>
            <a:r>
              <a:rPr lang="en-US" altLang="en-US" sz="2000" dirty="0" err="1">
                <a:solidFill>
                  <a:schemeClr val="accent3">
                    <a:lumMod val="75000"/>
                  </a:schemeClr>
                </a:solidFill>
                <a:latin typeface="Menlo"/>
              </a:rPr>
              <a:t>useEffect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(() =&gt; {</a:t>
            </a: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 </a:t>
            </a: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i="1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// </a:t>
            </a:r>
            <a:r>
              <a:rPr lang="ar-SA" altLang="en-US" sz="2000" i="1" dirty="0">
                <a:solidFill>
                  <a:schemeClr val="accent3">
                    <a:lumMod val="75000"/>
                  </a:schemeClr>
                </a:solidFill>
                <a:latin typeface="Menlo"/>
                <a:cs typeface="Arial" panose="020B0604020202020204" pitchFamily="34" charset="0"/>
              </a:rPr>
              <a:t>کدها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 </a:t>
            </a: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}, [id]);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endParaRPr lang="fa-IR" altLang="en-US" sz="2000" dirty="0">
              <a:solidFill>
                <a:schemeClr val="accent3">
                  <a:lumMod val="75000"/>
                </a:schemeClr>
              </a:solidFill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sz="2000" i="1" dirty="0">
                <a:solidFill>
                  <a:schemeClr val="accent1">
                    <a:lumMod val="75000"/>
                  </a:schemeClr>
                </a:solidFill>
                <a:latin typeface="Menlo"/>
              </a:rPr>
              <a:t>//  </a:t>
            </a:r>
            <a:r>
              <a:rPr lang="ar-SA" altLang="en-US" sz="2000" i="1" dirty="0">
                <a:solidFill>
                  <a:schemeClr val="accent1">
                    <a:lumMod val="75000"/>
                  </a:schemeClr>
                </a:solidFill>
                <a:latin typeface="Menlo"/>
                <a:cs typeface="Arial" panose="020B0604020202020204" pitchFamily="34" charset="0"/>
              </a:rPr>
              <a:t>معادل</a:t>
            </a:r>
            <a:r>
              <a:rPr lang="en-US" altLang="en-US" sz="2000" i="1" dirty="0">
                <a:solidFill>
                  <a:schemeClr val="accent1">
                    <a:lumMod val="75000"/>
                  </a:schemeClr>
                </a:solidFill>
                <a:latin typeface="Menlo"/>
              </a:rPr>
              <a:t>: </a:t>
            </a:r>
            <a:r>
              <a:rPr lang="en-US" altLang="en-US" sz="2000" i="1" dirty="0" err="1">
                <a:solidFill>
                  <a:schemeClr val="accent1">
                    <a:lumMod val="75000"/>
                  </a:schemeClr>
                </a:solidFill>
                <a:latin typeface="Menlo"/>
              </a:rPr>
              <a:t>componentDidUpdate</a:t>
            </a:r>
            <a:r>
              <a:rPr lang="en-US" altLang="en-US" sz="2000" i="1" dirty="0">
                <a:solidFill>
                  <a:schemeClr val="accent1">
                    <a:lumMod val="75000"/>
                  </a:schemeClr>
                </a:solidFill>
                <a:latin typeface="Menlo"/>
              </a:rPr>
              <a:t> </a:t>
            </a:r>
            <a:r>
              <a:rPr lang="ar-SA" altLang="en-US" sz="2000" i="1" dirty="0">
                <a:solidFill>
                  <a:schemeClr val="accent1">
                    <a:lumMod val="75000"/>
                  </a:schemeClr>
                </a:solidFill>
                <a:latin typeface="Menlo"/>
                <a:cs typeface="Arial" panose="020B0604020202020204" pitchFamily="34" charset="0"/>
              </a:rPr>
              <a:t>با شرط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altLang="en-US" sz="4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85D7D-358C-BFBE-86C2-9CC66F400C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746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F238-E2A3-8D4B-02CD-51D01F17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FF7784-CA19-2001-DD4A-D19A68AE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UseEffect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EDB700-C81D-B414-4F81-A05584DD2C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41CDB0-A292-08FB-80E6-199B88AA6098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425449" y="1365749"/>
            <a:ext cx="5054855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بعد از هر رندر: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altLang="en-US" sz="2000" dirty="0">
              <a:solidFill>
                <a:srgbClr val="4078F2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Menlo"/>
              </a:rPr>
              <a:t>useEffect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Menlo"/>
              </a:rPr>
              <a:t>(() =&gt; {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a-IR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کدها//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Menlo"/>
              </a:rPr>
              <a:t>); });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</a:rPr>
              <a:t> </a:t>
            </a: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altLang="en-US" sz="20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Menlo"/>
              </a:rPr>
              <a:t>// </a:t>
            </a:r>
            <a:r>
              <a:rPr lang="ar-SA" altLang="en-US" sz="2000" i="1" dirty="0">
                <a:solidFill>
                  <a:srgbClr val="0070C0"/>
                </a:solidFill>
                <a:latin typeface="Menlo"/>
                <a:cs typeface="Arial" panose="020B0604020202020204" pitchFamily="34" charset="0"/>
              </a:rPr>
              <a:t>معاد</a:t>
            </a:r>
            <a:r>
              <a:rPr lang="fa-IR" altLang="en-US" sz="2000" i="1" dirty="0">
                <a:solidFill>
                  <a:srgbClr val="0070C0"/>
                </a:solidFill>
                <a:latin typeface="Menlo"/>
                <a:cs typeface="Arial" panose="020B0604020202020204" pitchFamily="34" charset="0"/>
              </a:rPr>
              <a:t>ل</a:t>
            </a:r>
            <a:r>
              <a:rPr lang="en-US" altLang="en-US" sz="2000" i="1" dirty="0">
                <a:solidFill>
                  <a:srgbClr val="0070C0"/>
                </a:solidFill>
                <a:latin typeface="Menlo"/>
              </a:rPr>
              <a:t>:</a:t>
            </a:r>
            <a:r>
              <a:rPr lang="en-US" altLang="en-US" sz="2000" i="1" dirty="0" err="1">
                <a:solidFill>
                  <a:srgbClr val="0070C0"/>
                </a:solidFill>
                <a:latin typeface="Menlo"/>
              </a:rPr>
              <a:t>componentDidMount</a:t>
            </a:r>
            <a:r>
              <a:rPr lang="en-US" altLang="en-US" sz="2000" i="1" dirty="0">
                <a:solidFill>
                  <a:srgbClr val="0070C0"/>
                </a:solidFill>
                <a:latin typeface="Menlo"/>
              </a:rPr>
              <a:t>+</a:t>
            </a:r>
            <a:endParaRPr lang="fa-IR" altLang="en-US" sz="2000" i="1" dirty="0">
              <a:solidFill>
                <a:srgbClr val="0070C0"/>
              </a:solidFill>
              <a:latin typeface="Menl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i="1" dirty="0" err="1">
                <a:solidFill>
                  <a:srgbClr val="0070C0"/>
                </a:solidFill>
                <a:latin typeface="Menlo"/>
              </a:rPr>
              <a:t>componentDidUpdate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endParaRPr lang="en-US" altLang="en-US" sz="4800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fa-IR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60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30D6-DC52-0A52-8C71-48218A60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F93777-5D28-EA66-2D7B-A2B1FEB32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UseEffect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3DBAB-FFC9-0B3F-5D5D-7DD0BAC1B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8D52E3-1823-B4CA-F4C9-F021F55D17BB}"/>
              </a:ext>
            </a:extLst>
          </p:cNvPr>
          <p:cNvSpPr>
            <a:spLocks noGrp="1" noChangeArrowheads="1"/>
          </p:cNvSpPr>
          <p:nvPr>
            <p:ph sz="quarter" idx="15"/>
          </p:nvPr>
        </p:nvSpPr>
        <p:spPr bwMode="auto">
          <a:xfrm>
            <a:off x="425450" y="1550416"/>
            <a:ext cx="422656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fa-IR" sz="2000" dirty="0"/>
              <a:t>فقط اولین بار: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sz="2000" dirty="0"/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err="1">
                <a:solidFill>
                  <a:schemeClr val="accent3">
                    <a:lumMod val="75000"/>
                  </a:schemeClr>
                </a:solidFill>
                <a:latin typeface="Menlo"/>
              </a:rPr>
              <a:t>useEffect</a:t>
            </a: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(() =&gt; {</a:t>
            </a: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fa-IR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کدها//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solidFill>
                  <a:schemeClr val="accent3">
                    <a:lumMod val="75000"/>
                  </a:schemeClr>
                </a:solidFill>
                <a:latin typeface="Menlo"/>
              </a:rPr>
              <a:t>}, []);</a:t>
            </a:r>
            <a:endParaRPr lang="fa-IR" altLang="en-US" sz="2000" dirty="0">
              <a:solidFill>
                <a:schemeClr val="accent3">
                  <a:lumMod val="75000"/>
                </a:schemeClr>
              </a:solidFill>
              <a:latin typeface="Menl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altLang="en-US" sz="2000" dirty="0">
              <a:solidFill>
                <a:srgbClr val="383A42"/>
              </a:solidFill>
              <a:latin typeface="Menlo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solidFill>
                  <a:srgbClr val="0070C0"/>
                </a:solidFill>
                <a:latin typeface="Menlo"/>
              </a:rPr>
              <a:t> </a:t>
            </a:r>
            <a:r>
              <a:rPr lang="en-US" altLang="en-US" sz="2000" i="1" dirty="0">
                <a:solidFill>
                  <a:srgbClr val="0070C0"/>
                </a:solidFill>
                <a:latin typeface="Menlo"/>
              </a:rPr>
              <a:t>//  </a:t>
            </a:r>
            <a:r>
              <a:rPr lang="ar-SA" altLang="en-US" sz="2000" i="1" dirty="0">
                <a:solidFill>
                  <a:srgbClr val="0070C0"/>
                </a:solidFill>
                <a:latin typeface="Menlo"/>
                <a:cs typeface="Arial" panose="020B0604020202020204" pitchFamily="34" charset="0"/>
              </a:rPr>
              <a:t>معادل</a:t>
            </a:r>
            <a:r>
              <a:rPr lang="en-US" altLang="en-US" sz="2000" i="1" dirty="0">
                <a:solidFill>
                  <a:srgbClr val="0070C0"/>
                </a:solidFill>
                <a:latin typeface="Menlo"/>
              </a:rPr>
              <a:t>: </a:t>
            </a:r>
            <a:r>
              <a:rPr lang="en-US" altLang="en-US" sz="2000" i="1" dirty="0" err="1">
                <a:solidFill>
                  <a:srgbClr val="0070C0"/>
                </a:solidFill>
                <a:latin typeface="Menlo"/>
              </a:rPr>
              <a:t>componentDidMount</a:t>
            </a:r>
            <a:r>
              <a:rPr lang="en-US" altLang="en-US" sz="2000" dirty="0">
                <a:solidFill>
                  <a:srgbClr val="0070C0"/>
                </a:solidFill>
              </a:rPr>
              <a:t> </a:t>
            </a:r>
            <a:endParaRPr lang="en-US" altLang="en-US" sz="2000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dirty="0"/>
          </a:p>
          <a:p>
            <a:pPr marL="0" indent="0" algn="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fa-IR" dirty="0"/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620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76187-4A1E-4C59-A913-D2AEC25CA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B6F9A1-3DE0-E30E-785D-E148B6A4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Context</a:t>
            </a:r>
            <a:r>
              <a:rPr lang="fa-IR" dirty="0"/>
              <a:t>  </a:t>
            </a:r>
            <a:r>
              <a:rPr lang="en-US" dirty="0"/>
              <a:t>of </a:t>
            </a:r>
            <a:br>
              <a:rPr lang="en-US" dirty="0"/>
            </a:br>
            <a:r>
              <a:rPr lang="en-US" dirty="0"/>
              <a:t>class component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E98CF-9BB1-C120-F033-A8525D2793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33433" y="395478"/>
            <a:ext cx="5146872" cy="60693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AED1FF-6000-A4BB-6163-E792E16AEE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DC8972-4400-6C21-149F-06219A0FE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5" y="631678"/>
            <a:ext cx="5146872" cy="58689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530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9043-0A71-9082-CFC4-E32D47704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0" y="1956816"/>
            <a:ext cx="4400550" cy="3218688"/>
          </a:xfrm>
        </p:spPr>
        <p:txBody>
          <a:bodyPr/>
          <a:lstStyle/>
          <a:p>
            <a:r>
              <a:rPr lang="en-US" dirty="0" err="1"/>
              <a:t>UseContext</a:t>
            </a:r>
            <a:br>
              <a:rPr lang="en-US" dirty="0"/>
            </a:br>
            <a:r>
              <a:rPr lang="en-US" dirty="0"/>
              <a:t> of </a:t>
            </a:r>
            <a:br>
              <a:rPr lang="en-US" dirty="0"/>
            </a:br>
            <a:r>
              <a:rPr lang="en-US" dirty="0"/>
              <a:t>functional component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FD439D-B4BE-94BE-6D49-D792254D3E85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251460" y="594360"/>
            <a:ext cx="4846320" cy="56121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F15AF-A0BB-2CC6-76CE-3CBC5D68EE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435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929F-A794-A003-3192-DA261D99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چه زمانی استفاده کنیم؟</a:t>
            </a:r>
            <a:br>
              <a:rPr lang="en-US" dirty="0"/>
            </a:br>
            <a:br>
              <a:rPr lang="fa-IR" dirty="0"/>
            </a:br>
            <a:r>
              <a:rPr lang="en-US" dirty="0"/>
              <a:t>Use</a:t>
            </a:r>
            <a:r>
              <a:rPr lang="en-US" dirty="0">
                <a:cs typeface="B Nazanin" panose="00000400000000000000" pitchFamily="2" charset="-78"/>
              </a:rPr>
              <a:t>Reducer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306A8E1-5920-2A30-65F7-38A7C1B22D97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3720252321"/>
              </p:ext>
            </p:extLst>
          </p:nvPr>
        </p:nvGraphicFramePr>
        <p:xfrm>
          <a:off x="584200" y="706438"/>
          <a:ext cx="4122738" cy="5757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F5FD7-9159-9251-72C5-F6BD804AB0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131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ACACA-E0A7-CE79-BD8A-CF04B479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</a:t>
            </a:r>
            <a:r>
              <a:rPr lang="en-US" dirty="0" err="1">
                <a:cs typeface="B Nazanin" panose="00000400000000000000" pitchFamily="2" charset="-78"/>
              </a:rPr>
              <a:t>Reducer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BB9D9-7332-72E2-F8E5-32EC93D990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5760" y="297180"/>
            <a:ext cx="4341908" cy="641223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a-IR" dirty="0"/>
              <a:t>//</a:t>
            </a:r>
            <a:r>
              <a:rPr lang="en-US" sz="2100" dirty="0"/>
              <a:t>class component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A626A4"/>
                </a:solidFill>
                <a:latin typeface="Menlo"/>
              </a:rPr>
              <a:t>class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B76B01"/>
                </a:solidFill>
                <a:latin typeface="Menlo"/>
              </a:rPr>
              <a:t>Counter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A626A4"/>
                </a:solidFill>
                <a:latin typeface="Menlo"/>
              </a:rPr>
              <a:t>extends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B76B01"/>
                </a:solidFill>
                <a:latin typeface="Menlo"/>
              </a:rPr>
              <a:t>Component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{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state </a:t>
            </a:r>
            <a:r>
              <a:rPr lang="en-US" altLang="en-US" dirty="0">
                <a:solidFill>
                  <a:srgbClr val="4078F2"/>
                </a:solidFill>
                <a:latin typeface="Menlo"/>
              </a:rPr>
              <a:t>=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{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E45649"/>
                </a:solidFill>
                <a:latin typeface="Menlo"/>
              </a:rPr>
              <a:t>count</a:t>
            </a:r>
            <a:r>
              <a:rPr lang="en-US" altLang="en-US" dirty="0">
                <a:solidFill>
                  <a:srgbClr val="4078F2"/>
                </a:solidFill>
                <a:latin typeface="Menlo"/>
              </a:rPr>
              <a:t>: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B76B01"/>
                </a:solidFill>
                <a:latin typeface="Menlo"/>
              </a:rPr>
              <a:t>0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};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 err="1">
                <a:solidFill>
                  <a:srgbClr val="4078F2"/>
                </a:solidFill>
                <a:latin typeface="Menlo"/>
              </a:rPr>
              <a:t>handleIncrement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4078F2"/>
                </a:solidFill>
                <a:latin typeface="Menlo"/>
              </a:rPr>
              <a:t>=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()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4078F2"/>
                </a:solidFill>
                <a:latin typeface="Menlo"/>
              </a:rPr>
              <a:t>=&gt;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{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 err="1">
                <a:solidFill>
                  <a:srgbClr val="A626A4"/>
                </a:solidFill>
                <a:latin typeface="Menlo"/>
              </a:rPr>
              <a:t>this</a:t>
            </a:r>
            <a:r>
              <a:rPr lang="en-US" altLang="en-US" dirty="0" err="1">
                <a:solidFill>
                  <a:srgbClr val="383A42"/>
                </a:solidFill>
                <a:latin typeface="Menlo"/>
              </a:rPr>
              <a:t>.</a:t>
            </a:r>
            <a:r>
              <a:rPr lang="en-US" altLang="en-US" dirty="0" err="1">
                <a:solidFill>
                  <a:srgbClr val="4078F2"/>
                </a:solidFill>
                <a:latin typeface="Menlo"/>
              </a:rPr>
              <a:t>setState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({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E45649"/>
                </a:solidFill>
                <a:latin typeface="Menlo"/>
              </a:rPr>
              <a:t>count</a:t>
            </a:r>
            <a:r>
              <a:rPr lang="en-US" altLang="en-US" dirty="0">
                <a:solidFill>
                  <a:srgbClr val="4078F2"/>
                </a:solidFill>
                <a:latin typeface="Menlo"/>
              </a:rPr>
              <a:t>: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 err="1">
                <a:solidFill>
                  <a:srgbClr val="A626A4"/>
                </a:solidFill>
                <a:latin typeface="Menlo"/>
              </a:rPr>
              <a:t>this</a:t>
            </a:r>
            <a:r>
              <a:rPr lang="en-US" altLang="en-US" dirty="0" err="1">
                <a:solidFill>
                  <a:srgbClr val="383A42"/>
                </a:solidFill>
                <a:latin typeface="Menlo"/>
              </a:rPr>
              <a:t>.</a:t>
            </a:r>
            <a:r>
              <a:rPr lang="en-US" altLang="en-US" dirty="0" err="1">
                <a:solidFill>
                  <a:srgbClr val="0F1115"/>
                </a:solidFill>
                <a:latin typeface="Menlo"/>
              </a:rPr>
              <a:t>state</a:t>
            </a:r>
            <a:r>
              <a:rPr lang="en-US" altLang="en-US" dirty="0" err="1">
                <a:solidFill>
                  <a:srgbClr val="383A42"/>
                </a:solidFill>
                <a:latin typeface="Menlo"/>
              </a:rPr>
              <a:t>.</a:t>
            </a:r>
            <a:r>
              <a:rPr lang="en-US" altLang="en-US" dirty="0" err="1">
                <a:solidFill>
                  <a:srgbClr val="0F1115"/>
                </a:solidFill>
                <a:latin typeface="Menlo"/>
              </a:rPr>
              <a:t>count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4078F2"/>
                </a:solidFill>
                <a:latin typeface="Menlo"/>
              </a:rPr>
              <a:t>+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B76B01"/>
                </a:solidFill>
                <a:latin typeface="Menlo"/>
              </a:rPr>
              <a:t>1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383A42"/>
                </a:solidFill>
                <a:latin typeface="Menlo"/>
              </a:rPr>
              <a:t>});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};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4078F2"/>
                </a:solidFill>
                <a:latin typeface="Menlo"/>
              </a:rPr>
              <a:t>render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()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{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A626A4"/>
                </a:solidFill>
                <a:latin typeface="Menlo"/>
              </a:rPr>
              <a:t>return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(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383A42"/>
                </a:solidFill>
                <a:latin typeface="Menlo"/>
              </a:rPr>
              <a:t>&lt;</a:t>
            </a:r>
            <a:r>
              <a:rPr lang="en-US" altLang="en-US" dirty="0">
                <a:solidFill>
                  <a:srgbClr val="E45649"/>
                </a:solidFill>
                <a:latin typeface="Menlo"/>
              </a:rPr>
              <a:t>div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&gt;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383A42"/>
                </a:solidFill>
                <a:latin typeface="Menlo"/>
              </a:rPr>
              <a:t>&lt;</a:t>
            </a:r>
            <a:r>
              <a:rPr lang="en-US" altLang="en-US" dirty="0">
                <a:solidFill>
                  <a:srgbClr val="E45649"/>
                </a:solidFill>
                <a:latin typeface="Menlo"/>
              </a:rPr>
              <a:t>p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&gt;</a:t>
            </a:r>
            <a:r>
              <a:rPr lang="ar-SA" altLang="en-US" dirty="0">
                <a:solidFill>
                  <a:srgbClr val="0F1115"/>
                </a:solidFill>
                <a:latin typeface="Menlo"/>
                <a:cs typeface="Arial" panose="020B0604020202020204" pitchFamily="34" charset="0"/>
              </a:rPr>
              <a:t>تعداد</a:t>
            </a:r>
            <a:r>
              <a:rPr lang="en-US" altLang="en-US" dirty="0">
                <a:solidFill>
                  <a:srgbClr val="0F1115"/>
                </a:solidFill>
                <a:latin typeface="Menlo"/>
                <a:cs typeface="Arial" panose="020B0604020202020204" pitchFamily="34" charset="0"/>
              </a:rPr>
              <a:t>: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{</a:t>
            </a:r>
            <a:r>
              <a:rPr lang="en-US" altLang="en-US" dirty="0" err="1">
                <a:solidFill>
                  <a:srgbClr val="A626A4"/>
                </a:solidFill>
                <a:latin typeface="Menlo"/>
              </a:rPr>
              <a:t>this</a:t>
            </a:r>
            <a:r>
              <a:rPr lang="en-US" altLang="en-US" dirty="0" err="1">
                <a:solidFill>
                  <a:srgbClr val="383A42"/>
                </a:solidFill>
                <a:latin typeface="Menlo"/>
              </a:rPr>
              <a:t>.</a:t>
            </a:r>
            <a:r>
              <a:rPr lang="en-US" altLang="en-US" dirty="0" err="1">
                <a:solidFill>
                  <a:srgbClr val="0F1115"/>
                </a:solidFill>
                <a:latin typeface="Menlo"/>
              </a:rPr>
              <a:t>state</a:t>
            </a:r>
            <a:r>
              <a:rPr lang="en-US" altLang="en-US" dirty="0" err="1">
                <a:solidFill>
                  <a:srgbClr val="383A42"/>
                </a:solidFill>
                <a:latin typeface="Menlo"/>
              </a:rPr>
              <a:t>.</a:t>
            </a:r>
            <a:r>
              <a:rPr lang="en-US" altLang="en-US" dirty="0" err="1">
                <a:solidFill>
                  <a:srgbClr val="0F1115"/>
                </a:solidFill>
                <a:latin typeface="Menlo"/>
              </a:rPr>
              <a:t>count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}&lt;/</a:t>
            </a:r>
            <a:r>
              <a:rPr lang="en-US" altLang="en-US" dirty="0">
                <a:solidFill>
                  <a:srgbClr val="E45649"/>
                </a:solidFill>
                <a:latin typeface="Menlo"/>
              </a:rPr>
              <a:t>p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&gt;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&lt;</a:t>
            </a:r>
            <a:r>
              <a:rPr lang="en-US" altLang="en-US" dirty="0">
                <a:solidFill>
                  <a:srgbClr val="E45649"/>
                </a:solidFill>
                <a:latin typeface="Menlo"/>
              </a:rPr>
              <a:t>button </a:t>
            </a:r>
            <a:r>
              <a:rPr lang="en-US" altLang="en-US" dirty="0" err="1">
                <a:solidFill>
                  <a:srgbClr val="B76B01"/>
                </a:solidFill>
                <a:latin typeface="Menlo"/>
              </a:rPr>
              <a:t>onClick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={</a:t>
            </a:r>
            <a:r>
              <a:rPr lang="en-US" altLang="en-US" dirty="0" err="1">
                <a:solidFill>
                  <a:srgbClr val="A626A4"/>
                </a:solidFill>
                <a:latin typeface="Menlo"/>
              </a:rPr>
              <a:t>this</a:t>
            </a:r>
            <a:r>
              <a:rPr lang="en-US" altLang="en-US" dirty="0" err="1">
                <a:solidFill>
                  <a:srgbClr val="383A42"/>
                </a:solidFill>
                <a:latin typeface="Menlo"/>
              </a:rPr>
              <a:t>.</a:t>
            </a:r>
            <a:r>
              <a:rPr lang="en-US" altLang="en-US" dirty="0" err="1">
                <a:solidFill>
                  <a:srgbClr val="E45649"/>
                </a:solidFill>
                <a:latin typeface="Menlo"/>
              </a:rPr>
              <a:t>handleIncrement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}&gt;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+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&lt;/</a:t>
            </a:r>
            <a:r>
              <a:rPr lang="en-US" altLang="en-US" dirty="0">
                <a:solidFill>
                  <a:srgbClr val="E45649"/>
                </a:solidFill>
                <a:latin typeface="Menlo"/>
              </a:rPr>
              <a:t>button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&gt;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&lt;/</a:t>
            </a:r>
            <a:r>
              <a:rPr lang="en-US" altLang="en-US" dirty="0">
                <a:solidFill>
                  <a:srgbClr val="E45649"/>
                </a:solidFill>
                <a:latin typeface="Menlo"/>
              </a:rPr>
              <a:t>div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&gt;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altLang="en-US" dirty="0">
                <a:solidFill>
                  <a:srgbClr val="383A42"/>
                </a:solidFill>
                <a:latin typeface="Menlo"/>
              </a:rPr>
              <a:t>);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383A42"/>
                </a:solidFill>
                <a:latin typeface="Menlo"/>
              </a:rPr>
              <a:t>}</a:t>
            </a:r>
            <a:r>
              <a:rPr lang="en-US" altLang="en-US" dirty="0">
                <a:solidFill>
                  <a:srgbClr val="0F1115"/>
                </a:solidFill>
                <a:latin typeface="Menlo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383A42"/>
                </a:solidFill>
                <a:latin typeface="Menlo"/>
              </a:rPr>
              <a:t>}</a:t>
            </a:r>
            <a:r>
              <a:rPr lang="en-US" altLang="en-US" sz="1600" dirty="0">
                <a:solidFill>
                  <a:schemeClr val="tx1"/>
                </a:solidFill>
              </a:rPr>
              <a:t> </a:t>
            </a:r>
            <a:endParaRPr lang="en-US" altLang="en-US" sz="4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C4BFB-6F45-A64D-50DD-40D3F51C38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235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B0E2C-742A-FB8F-FC6A-6BD15E18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UseMemo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FBCB-B63F-5923-295A-104DBEC085F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DFC19-0D0E-F98F-C570-EC93C6F1AC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175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A8036-C12F-3300-62D2-896042722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29C0D3-8E74-FC31-1ABD-ECB411C60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UseCallback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95AE8-FAE2-0B29-0D37-22181A9A98B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4873" y="988291"/>
            <a:ext cx="4931065" cy="4719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const memoizedFn = useCallback(</a:t>
            </a:r>
          </a:p>
          <a:p>
            <a:pPr marL="0" indent="0">
              <a:buNone/>
            </a:pPr>
            <a:r>
              <a:rPr lang="en-US" dirty="0"/>
              <a:t>  () =&gt; {</a:t>
            </a:r>
          </a:p>
          <a:p>
            <a:pPr marL="0" indent="0">
              <a:buNone/>
            </a:pPr>
            <a:r>
              <a:rPr lang="en-US" dirty="0"/>
              <a:t>    // </a:t>
            </a:r>
            <a:r>
              <a:rPr lang="fa-IR" dirty="0"/>
              <a:t>منطق تابع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,[</a:t>
            </a:r>
            <a:r>
              <a:rPr lang="fa-IR" dirty="0"/>
              <a:t>  </a:t>
            </a:r>
            <a:r>
              <a:rPr lang="en-US" dirty="0"/>
              <a:t>dependency1, dependency2]);</a:t>
            </a:r>
          </a:p>
          <a:p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A89C79-F94B-2881-50D3-5647AEF44F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310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75A9-BA6C-F5E3-2C3F-502A618B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3BE394-27A1-B512-FCA4-24B8C22F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UseOptimistic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8BF44-0485-BB6A-A579-34B146AE5A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5344" y="175492"/>
            <a:ext cx="5823966" cy="6483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const [optimisticComments, addOptimisticComment] 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= useOptimistic(comments,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(state, newComment) =&gt; [...state, newComment]  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// </a:t>
            </a:r>
            <a:r>
              <a:rPr lang="fa-IR" dirty="0">
                <a:cs typeface="B Nazanin" panose="00000400000000000000" pitchFamily="2" charset="-78"/>
              </a:rPr>
              <a:t>قبل از جواب سرور اضافه کن</a:t>
            </a:r>
          </a:p>
          <a:p>
            <a:pPr marL="0" indent="0">
              <a:buNone/>
            </a:pPr>
            <a:r>
              <a:rPr lang="fa-IR" dirty="0">
                <a:cs typeface="B Nazanin" panose="00000400000000000000" pitchFamily="2" charset="-78"/>
              </a:rPr>
              <a:t>  </a:t>
            </a:r>
            <a:r>
              <a:rPr lang="en-US" dirty="0">
                <a:cs typeface="B Nazanin" panose="00000400000000000000" pitchFamily="2" charset="-78"/>
              </a:rPr>
              <a:t>);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addOptimisticComment({ id: "temp", text });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992C1D-2E64-D46E-0B74-7B4BC3D1D0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093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456C8-677C-FD6B-3CF4-D7C1E36E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01E4AE-86C0-8643-E951-4CE68302E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UseActionState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BC866-78D0-683A-1EA9-13E5586853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75492"/>
            <a:ext cx="5913120" cy="648392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import { useActionState } from "react";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async function submitOrder(prevState, formData) {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const product = formData.get("product");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const qty = formData.get("qty");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const res = await fetch("/api/order", {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  method: "POST",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  body: JSON.stringify({ product, qty })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});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if (!res.ok) {return { error: "</a:t>
            </a:r>
            <a:r>
              <a:rPr lang="fa-IR" dirty="0">
                <a:cs typeface="B Nazanin" panose="00000400000000000000" pitchFamily="2" charset="-78"/>
              </a:rPr>
              <a:t>خطا در ثبت سفارش" };</a:t>
            </a:r>
          </a:p>
          <a:p>
            <a:pPr marL="0" indent="0">
              <a:buNone/>
            </a:pPr>
            <a:r>
              <a:rPr lang="fa-IR" dirty="0">
                <a:cs typeface="B Nazanin" panose="00000400000000000000" pitchFamily="2" charset="-78"/>
              </a:rPr>
              <a:t> } </a:t>
            </a:r>
            <a:r>
              <a:rPr lang="en-US" dirty="0">
                <a:cs typeface="B Nazanin" panose="00000400000000000000" pitchFamily="2" charset="-78"/>
              </a:rPr>
              <a:t>return { success: "</a:t>
            </a:r>
            <a:r>
              <a:rPr lang="fa-IR" dirty="0">
                <a:cs typeface="B Nazanin" panose="00000400000000000000" pitchFamily="2" charset="-78"/>
              </a:rPr>
              <a:t>سفارش ثبت شد!" };</a:t>
            </a:r>
            <a:endParaRPr lang="en-US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export default function OrderForm() {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const [state, action, pending] = useActionState(submitOrder, {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  error: null,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  success: null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});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88310-306C-DE2A-D291-4CA94AA398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55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DF586-E46E-85B0-9DF2-4DED3493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6E3E2A-C5B0-42C9-9398-221AE565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411359" cy="3218688"/>
          </a:xfrm>
        </p:spPr>
        <p:txBody>
          <a:bodyPr/>
          <a:lstStyle/>
          <a:p>
            <a:r>
              <a:rPr lang="fa-IR" dirty="0"/>
              <a:t>ساخت هوک سفارشی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E98A8-1F46-82B0-79F8-A81C937A6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21674" y="705887"/>
            <a:ext cx="5258631" cy="5758921"/>
          </a:xfrm>
        </p:spPr>
        <p:txBody>
          <a:bodyPr>
            <a:normAutofit fontScale="92500" lnSpcReduction="20000"/>
          </a:bodyPr>
          <a:lstStyle/>
          <a:p>
            <a:endParaRPr lang="fa-IR" dirty="0"/>
          </a:p>
          <a:p>
            <a:pPr marL="0" indent="0">
              <a:buNone/>
              <a:defRPr sz="2000"/>
            </a:pPr>
            <a:r>
              <a:rPr lang="fa-IR" dirty="0"/>
              <a:t>می‌توان چند هوک را ترکیب کرده و هوک جدید ساخت.</a:t>
            </a:r>
            <a:br>
              <a:rPr lang="fa-IR" dirty="0"/>
            </a:br>
            <a:br>
              <a:rPr lang="fa-IR" dirty="0"/>
            </a:br>
            <a:r>
              <a:rPr lang="en-US" dirty="0"/>
              <a:t>function useWindowWidth() {</a:t>
            </a:r>
            <a:br>
              <a:rPr lang="en-US" dirty="0"/>
            </a:br>
            <a:r>
              <a:rPr lang="en-US" dirty="0"/>
              <a:t>  const [width, setWidth] = useState(window.innerWidth);</a:t>
            </a:r>
            <a:endParaRPr lang="fa-IR" dirty="0"/>
          </a:p>
          <a:p>
            <a:pPr marL="0" indent="0">
              <a:buNone/>
              <a:defRPr sz="2000"/>
            </a:pPr>
            <a:r>
              <a:rPr lang="en-US" dirty="0"/>
              <a:t>const handleResize = () =&gt; </a:t>
            </a:r>
            <a:r>
              <a:rPr lang="fa-IR" dirty="0"/>
              <a:t>	</a:t>
            </a:r>
            <a:r>
              <a:rPr lang="en-US" dirty="0"/>
              <a:t>setWidth(window.innerWidth);</a:t>
            </a:r>
            <a:br>
              <a:rPr lang="en-US" dirty="0"/>
            </a:br>
            <a:r>
              <a:rPr lang="en-US" dirty="0"/>
              <a:t>    window.addEventListener('resize', handleResize);</a:t>
            </a:r>
            <a:endParaRPr lang="fa-IR" dirty="0"/>
          </a:p>
          <a:p>
            <a:pPr marL="0" indent="0">
              <a:buNone/>
              <a:defRPr sz="2000"/>
            </a:pPr>
            <a:br>
              <a:rPr lang="en-US" dirty="0"/>
            </a:br>
            <a:r>
              <a:rPr lang="en-US" dirty="0"/>
              <a:t>    return () =&gt; window.removeEventListener('resize’, </a:t>
            </a:r>
          </a:p>
          <a:p>
            <a:pPr marL="0" indent="0">
              <a:buNone/>
              <a:defRPr sz="2000"/>
            </a:pPr>
            <a:br>
              <a:rPr lang="en-US" dirty="0"/>
            </a:br>
            <a:r>
              <a:rPr lang="en-US" dirty="0"/>
              <a:t>  useEffect(() =&gt; {</a:t>
            </a:r>
            <a:br>
              <a:rPr lang="en-US" dirty="0"/>
            </a:br>
            <a:r>
              <a:rPr lang="en-US" dirty="0"/>
              <a:t>	handleResize);</a:t>
            </a:r>
            <a:br>
              <a:rPr lang="en-US" dirty="0"/>
            </a:br>
            <a:r>
              <a:rPr lang="en-US" dirty="0"/>
              <a:t>  	}, []);</a:t>
            </a:r>
            <a:br>
              <a:rPr lang="en-US" dirty="0"/>
            </a:br>
            <a:r>
              <a:rPr lang="en-US" dirty="0"/>
              <a:t>	  return width;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968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85A6-F16A-8948-61A7-21DA20C3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1EE2A8-BA29-1763-BB54-D593420E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90945" y="2505456"/>
            <a:ext cx="5600700" cy="2331720"/>
          </a:xfrm>
        </p:spPr>
        <p:txBody>
          <a:bodyPr/>
          <a:lstStyle/>
          <a:p>
            <a:r>
              <a:rPr lang="en-US" sz="5400" dirty="0"/>
              <a:t>React</a:t>
            </a:r>
            <a:r>
              <a:rPr lang="en-US" dirty="0"/>
              <a:t> </a:t>
            </a:r>
            <a:r>
              <a:rPr lang="en-US" sz="5400" dirty="0"/>
              <a:t>Router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D398C-A86D-A75D-B3C4-018B8FF6344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1861127"/>
            <a:ext cx="4738438" cy="2826327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2400" dirty="0"/>
              <a:t>SPA</a:t>
            </a:r>
            <a:r>
              <a:rPr lang="fa-IR" sz="2400" dirty="0"/>
              <a:t> کتابخانه‌ای برای مدیریت مسیرها در</a:t>
            </a:r>
            <a:endParaRPr lang="en-US" sz="2400" dirty="0"/>
          </a:p>
          <a:p>
            <a:pPr marL="0" indent="0" algn="r">
              <a:buNone/>
            </a:pPr>
            <a:r>
              <a:rPr lang="fa-IR" sz="2400" dirty="0"/>
              <a:t>بدون رفرش شدن صفحه بین بخش‌ها</a:t>
            </a:r>
            <a:r>
              <a:rPr lang="en-US" sz="2400" dirty="0"/>
              <a:t> </a:t>
            </a:r>
            <a:r>
              <a:rPr lang="fa-IR" sz="2400" dirty="0"/>
              <a:t>برنامه جابه‌جا می‌شود</a:t>
            </a:r>
          </a:p>
        </p:txBody>
      </p:sp>
    </p:spTree>
    <p:extLst>
      <p:ext uri="{BB962C8B-B14F-4D97-AF65-F5344CB8AC3E}">
        <p14:creationId xmlns:p14="http://schemas.microsoft.com/office/powerpoint/2010/main" val="2555269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462C-DF5B-9B8B-879B-CF09AAF6B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9805D0CB-B06B-93CD-785A-6DC1477A4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285750"/>
            <a:ext cx="9475470" cy="994410"/>
          </a:xfrm>
        </p:spPr>
        <p:txBody>
          <a:bodyPr>
            <a:normAutofit/>
          </a:bodyPr>
          <a:lstStyle/>
          <a:p>
            <a:r>
              <a:rPr lang="en-US" dirty="0"/>
              <a:t>react-router vs react-router-</a:t>
            </a:r>
            <a:r>
              <a:rPr lang="en-US" dirty="0" err="1"/>
              <a:t>dom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E1A4FFA-4845-0B6D-4E02-275B24EFA4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8670" y="1474470"/>
            <a:ext cx="4594859" cy="4870911"/>
          </a:xfrm>
        </p:spPr>
        <p:txBody>
          <a:bodyPr/>
          <a:lstStyle/>
          <a:p>
            <a:pPr marL="0" indent="0" algn="r">
              <a:buNone/>
            </a:pPr>
            <a:r>
              <a:rPr lang="en-US" dirty="0"/>
              <a:t>react-router-</a:t>
            </a:r>
            <a:r>
              <a:rPr lang="en-US" dirty="0" err="1"/>
              <a:t>dom</a:t>
            </a:r>
            <a:endParaRPr lang="en-US" dirty="0"/>
          </a:p>
          <a:p>
            <a:pPr marL="0" indent="0" algn="r">
              <a:buNone/>
            </a:pPr>
            <a:r>
              <a:rPr lang="en-US" dirty="0"/>
              <a:t>&lt;BrowserRouter /&gt;</a:t>
            </a:r>
          </a:p>
          <a:p>
            <a:pPr marL="0" indent="0" algn="r">
              <a:buNone/>
            </a:pPr>
            <a:r>
              <a:rPr lang="en-US" dirty="0"/>
              <a:t>&lt;Routes /&gt;</a:t>
            </a:r>
          </a:p>
          <a:p>
            <a:pPr marL="0" indent="0" algn="r">
              <a:buNone/>
            </a:pPr>
            <a:r>
              <a:rPr lang="en-US" dirty="0"/>
              <a:t>&lt;Route /&gt;</a:t>
            </a:r>
          </a:p>
          <a:p>
            <a:pPr marL="0" indent="0" algn="r">
              <a:buNone/>
            </a:pPr>
            <a:r>
              <a:rPr lang="en-US" dirty="0"/>
              <a:t>&lt;Link /&gt;</a:t>
            </a:r>
          </a:p>
          <a:p>
            <a:pPr marL="0" indent="0" algn="r">
              <a:buNone/>
            </a:pPr>
            <a:r>
              <a:rPr lang="en-US" dirty="0"/>
              <a:t>&lt;NavLink /&gt;</a:t>
            </a:r>
          </a:p>
          <a:p>
            <a:pPr marL="0" indent="0" algn="r">
              <a:buNone/>
            </a:pPr>
            <a:r>
              <a:rPr lang="en-US" dirty="0"/>
              <a:t>useNavigate()</a:t>
            </a:r>
          </a:p>
          <a:p>
            <a:pPr marL="0" indent="0" algn="r">
              <a:buNone/>
            </a:pPr>
            <a:r>
              <a:rPr lang="en-US" dirty="0"/>
              <a:t>useParams()</a:t>
            </a:r>
          </a:p>
          <a:p>
            <a:pPr marL="0" indent="0" algn="r">
              <a:buNone/>
            </a:pPr>
            <a:r>
              <a:rPr lang="en-US" dirty="0"/>
              <a:t>useSearchParams()</a:t>
            </a:r>
          </a:p>
          <a:p>
            <a:pPr marL="0" indent="0" algn="r">
              <a:buNone/>
            </a:pPr>
            <a:r>
              <a:rPr lang="en-US" dirty="0"/>
              <a:t>Outlet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6E5C9-6AD4-9EEE-6938-7603E67B38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B158C-5707-929B-898D-D488994F2709}"/>
              </a:ext>
            </a:extLst>
          </p:cNvPr>
          <p:cNvSpPr>
            <a:spLocks noGrp="1" noChangeArrowheads="1"/>
          </p:cNvSpPr>
          <p:nvPr>
            <p:ph sz="quarter" idx="16"/>
          </p:nvPr>
        </p:nvSpPr>
        <p:spPr bwMode="auto">
          <a:xfrm>
            <a:off x="5669281" y="1743551"/>
            <a:ext cx="459485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b="0" dirty="0"/>
              <a:t>react-router</a:t>
            </a:r>
          </a:p>
          <a:p>
            <a:pPr algn="r"/>
            <a:r>
              <a:rPr lang="en-US" sz="1600" b="0" dirty="0"/>
              <a:t>Core Routing Library</a:t>
            </a:r>
          </a:p>
          <a:p>
            <a:pPr algn="r"/>
            <a:r>
              <a:rPr lang="fa-IR" sz="1600" b="0" dirty="0"/>
              <a:t> مدیریت مسیرها</a:t>
            </a:r>
          </a:p>
          <a:p>
            <a:pPr algn="r"/>
            <a:r>
              <a:rPr lang="en-US" sz="1600" b="0" dirty="0"/>
              <a:t> </a:t>
            </a:r>
            <a:r>
              <a:rPr lang="fa-IR" sz="1600" b="0" dirty="0"/>
              <a:t>مسیریابی </a:t>
            </a:r>
            <a:r>
              <a:rPr lang="en-US" sz="1600" b="0" dirty="0"/>
              <a:t>(navigation)</a:t>
            </a:r>
          </a:p>
          <a:p>
            <a:pPr algn="r"/>
            <a:r>
              <a:rPr lang="en-US" sz="1600" b="0" dirty="0"/>
              <a:t>match </a:t>
            </a:r>
            <a:r>
              <a:rPr lang="fa-IR" sz="1600" b="0" dirty="0"/>
              <a:t>کردن </a:t>
            </a:r>
            <a:r>
              <a:rPr lang="en-US" sz="1600" b="0" dirty="0"/>
              <a:t>URL</a:t>
            </a:r>
          </a:p>
          <a:p>
            <a:pPr algn="r"/>
            <a:r>
              <a:rPr lang="fa-IR" sz="1600" b="0" dirty="0"/>
              <a:t>مدیریت تاریخچه </a:t>
            </a:r>
            <a:r>
              <a:rPr lang="en-US" sz="1600" b="0" dirty="0"/>
              <a:t>(history)</a:t>
            </a:r>
          </a:p>
          <a:p>
            <a:pPr algn="r"/>
            <a:r>
              <a:rPr lang="fa-IR" sz="1600" b="0" dirty="0"/>
              <a:t>پارامترها و </a:t>
            </a:r>
            <a:r>
              <a:rPr lang="en-US" sz="1600" b="0" dirty="0"/>
              <a:t>query‌</a:t>
            </a:r>
            <a:r>
              <a:rPr lang="fa-IR" sz="1600" b="0" dirty="0"/>
              <a:t>ها</a:t>
            </a:r>
          </a:p>
          <a:p>
            <a:pPr algn="r"/>
            <a:r>
              <a:rPr lang="fa-IR" sz="1600" b="0" dirty="0"/>
              <a:t>اما هیچ کامپوننت رابط کاربری مخصوص وب ندارد.</a:t>
            </a:r>
          </a:p>
          <a:p>
            <a:pPr algn="r"/>
            <a:r>
              <a:rPr lang="fa-IR" sz="1600" b="0" dirty="0"/>
              <a:t>بنابراین نمی‌توانی خودت از این پکیج به‌تنهایی استفاده کنی.</a:t>
            </a:r>
          </a:p>
          <a:p>
            <a:pPr lvl="0" algn="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614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1AEF9A40-C51A-C31D-2BCB-5698D78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285750"/>
            <a:ext cx="9475470" cy="994410"/>
          </a:xfrm>
        </p:spPr>
        <p:txBody>
          <a:bodyPr>
            <a:normAutofit fontScale="90000"/>
          </a:bodyPr>
          <a:lstStyle/>
          <a:p>
            <a:r>
              <a:rPr lang="fa-IR" dirty="0"/>
              <a:t>اجزای اصلی </a:t>
            </a:r>
            <a:r>
              <a:rPr lang="en-US" dirty="0"/>
              <a:t>React Router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F5E4DB-41AF-AEEF-8E61-EEE83DCB9D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276" y="1690688"/>
            <a:ext cx="4240253" cy="4654693"/>
          </a:xfrm>
        </p:spPr>
        <p:txBody>
          <a:bodyPr/>
          <a:lstStyle/>
          <a:p>
            <a:pPr marL="0" indent="0" fontAlgn="ctr">
              <a:buNone/>
            </a:pPr>
            <a:r>
              <a:rPr lang="en-US" dirty="0"/>
              <a:t>import { BrowserRouter } from "react-router-</a:t>
            </a:r>
            <a:r>
              <a:rPr lang="en-US" dirty="0" err="1"/>
              <a:t>dom</a:t>
            </a:r>
            <a:r>
              <a:rPr lang="en-US" dirty="0"/>
              <a:t>";</a:t>
            </a:r>
          </a:p>
          <a:p>
            <a:pPr marL="0" indent="0" fontAlgn="ctr">
              <a:buNone/>
            </a:pPr>
            <a:r>
              <a:rPr lang="en-US" dirty="0"/>
              <a:t>&lt;BrowserRouter&gt;</a:t>
            </a:r>
          </a:p>
          <a:p>
            <a:pPr marL="0" indent="0" fontAlgn="ctr">
              <a:buNone/>
            </a:pPr>
            <a:r>
              <a:rPr lang="en-US" dirty="0"/>
              <a:t>&lt;Routes&gt;</a:t>
            </a:r>
          </a:p>
          <a:p>
            <a:pPr marL="0" indent="0" fontAlgn="ctr">
              <a:buNone/>
            </a:pPr>
            <a:r>
              <a:rPr lang="en-US" dirty="0"/>
              <a:t>  &lt;Route path="/" element={&lt;Home /&gt;} /&gt;</a:t>
            </a:r>
          </a:p>
          <a:p>
            <a:pPr marL="0" indent="0" fontAlgn="ctr">
              <a:buNone/>
            </a:pPr>
            <a:r>
              <a:rPr lang="en-US" dirty="0"/>
              <a:t>  &lt;Route path="/about" element={&lt;About /&gt;} /&gt;</a:t>
            </a:r>
          </a:p>
          <a:p>
            <a:pPr marL="0" indent="0" fontAlgn="ctr">
              <a:buNone/>
            </a:pPr>
            <a:r>
              <a:rPr lang="en-US" dirty="0"/>
              <a:t>&lt;/Routes&gt;</a:t>
            </a:r>
          </a:p>
          <a:p>
            <a:pPr marL="0" indent="0" fontAlgn="ctr">
              <a:buNone/>
            </a:pPr>
            <a:r>
              <a:rPr lang="en-US" dirty="0"/>
              <a:t>&lt;Link to="/about"&gt;About Page&lt;/Link&gt;</a:t>
            </a:r>
          </a:p>
          <a:p>
            <a:pPr marL="0" indent="0" fontAlgn="ctr">
              <a:buNone/>
            </a:pPr>
            <a:r>
              <a:rPr lang="en-US" dirty="0"/>
              <a:t>&lt;/BrowserRouter&gt;</a:t>
            </a:r>
          </a:p>
          <a:p>
            <a:pPr marL="0" indent="0" fontAlgn="ctr">
              <a:buNone/>
            </a:pPr>
            <a:endParaRPr lang="en-US" dirty="0"/>
          </a:p>
          <a:p>
            <a:pPr marL="0" indent="0" fontAlgn="ctr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38AE341-0B5E-36B3-2473-BED7C63F0AB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4456" y="1690689"/>
            <a:ext cx="4133180" cy="4654692"/>
          </a:xfrm>
        </p:spPr>
        <p:txBody>
          <a:bodyPr>
            <a:normAutofit/>
          </a:bodyPr>
          <a:lstStyle/>
          <a:p>
            <a:r>
              <a:rPr lang="en-US" dirty="0"/>
              <a:t>1) BrowserRouter</a:t>
            </a:r>
          </a:p>
          <a:p>
            <a:r>
              <a:rPr lang="fa-IR" dirty="0"/>
              <a:t>قالب اصلی مسیرها. تمام </a:t>
            </a:r>
            <a:r>
              <a:rPr lang="en-US" dirty="0"/>
              <a:t>Route‌</a:t>
            </a:r>
            <a:r>
              <a:rPr lang="fa-IR" dirty="0"/>
              <a:t>ها باید داخل آن قرار گیرند.</a:t>
            </a:r>
          </a:p>
          <a:p>
            <a:r>
              <a:rPr lang="en-US" dirty="0"/>
              <a:t>2) Routes</a:t>
            </a:r>
          </a:p>
          <a:p>
            <a:r>
              <a:rPr lang="fa-IR" dirty="0"/>
              <a:t>یک لیست از مسیرها که قرار است چک شوند.</a:t>
            </a:r>
          </a:p>
          <a:p>
            <a:r>
              <a:rPr lang="en-US" dirty="0"/>
              <a:t>3) Route</a:t>
            </a:r>
          </a:p>
          <a:p>
            <a:r>
              <a:rPr lang="fa-IR" dirty="0"/>
              <a:t>تعیین می‌کند وقتی </a:t>
            </a:r>
            <a:r>
              <a:rPr lang="en-US" dirty="0"/>
              <a:t>URL </a:t>
            </a:r>
            <a:r>
              <a:rPr lang="fa-IR" dirty="0"/>
              <a:t>با چه مسیری برابر بود، چه کامپوننتی نمایش داده شود.</a:t>
            </a:r>
            <a:r>
              <a:rPr lang="en-US" dirty="0"/>
              <a:t>	</a:t>
            </a:r>
          </a:p>
          <a:p>
            <a:r>
              <a:rPr lang="en-US" dirty="0"/>
              <a:t>4) Link</a:t>
            </a:r>
          </a:p>
          <a:p>
            <a:r>
              <a:rPr lang="fa-IR" dirty="0"/>
              <a:t>جایگزین تگ </a:t>
            </a:r>
            <a:r>
              <a:rPr lang="en-US" dirty="0"/>
              <a:t>&lt;a&gt; </a:t>
            </a:r>
            <a:r>
              <a:rPr lang="fa-IR" dirty="0"/>
              <a:t>برای جا‌به‌جایی بدون رفرش صفحه.</a:t>
            </a:r>
            <a:endParaRPr lang="en-US" dirty="0"/>
          </a:p>
          <a:p>
            <a:endParaRPr lang="fa-I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F0F98-CBCF-CDCC-93A5-08433444B0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650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661A-6413-CFDB-20DF-574F852A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3E97D8-C481-0211-A5EE-A7BB90FE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UseParams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E5907-86AC-A65A-AEC8-CA3B8791E94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4873" y="988291"/>
            <a:ext cx="4931065" cy="4719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function UserPage() {</a:t>
            </a:r>
          </a:p>
          <a:p>
            <a:pPr marL="0" indent="0">
              <a:buNone/>
            </a:pPr>
            <a:r>
              <a:rPr lang="en-US" dirty="0"/>
              <a:t>  const { id } = useParams();</a:t>
            </a:r>
          </a:p>
          <a:p>
            <a:pPr marL="0" indent="0">
              <a:buNone/>
            </a:pPr>
            <a:r>
              <a:rPr lang="en-US" dirty="0"/>
              <a:t>  return &lt;h1&gt;User ID: {id}&lt;/h1&gt;;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12B2FA-A2D9-3635-34F0-D1D9441E9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2612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D857-B71A-00E8-F15C-F2048BBE7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58EAB2-DA5D-CF60-3602-A5DEA760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UseNavigate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08923-977D-2084-A715-22385BC83B8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0070" y="988291"/>
            <a:ext cx="4795868" cy="4719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const nav = useNavigate();</a:t>
            </a:r>
          </a:p>
          <a:p>
            <a:pPr marL="0" indent="0">
              <a:buNone/>
            </a:pPr>
            <a:r>
              <a:rPr lang="en-US" dirty="0"/>
              <a:t>nav('/dashboard');</a:t>
            </a:r>
          </a:p>
          <a:p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6D7DEF-EB51-EB2D-DF84-2CCE159AAF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470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7AF39-D810-44F6-CD5B-EF5B24BB7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3DE638-CD2A-95A4-EBFD-009925B5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UseLocation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54BA4-3E70-476A-FC02-95D1508981E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0070" y="988291"/>
            <a:ext cx="4795868" cy="4719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const location = useLocation();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const query = new URLSearchParams(location.search);</a:t>
            </a:r>
          </a:p>
          <a:p>
            <a:pPr marL="0" indent="0">
              <a:buNone/>
            </a:pPr>
            <a:r>
              <a:rPr lang="en-US" dirty="0"/>
              <a:t>const id = query.get("id");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pathname ⇒ </a:t>
            </a:r>
            <a:r>
              <a:rPr lang="fa-IR" dirty="0"/>
              <a:t>مسیر فعلی مثل /</a:t>
            </a:r>
            <a:r>
              <a:rPr lang="fr-FR" dirty="0"/>
              <a:t>products/12</a:t>
            </a:r>
          </a:p>
          <a:p>
            <a:pPr marL="0" indent="0">
              <a:buNone/>
            </a:pPr>
            <a:r>
              <a:rPr lang="fr-FR" dirty="0"/>
              <a:t>search ⇒ </a:t>
            </a:r>
            <a:r>
              <a:rPr lang="fa-IR" dirty="0"/>
              <a:t>کوئری‌ها مثل ?</a:t>
            </a:r>
            <a:r>
              <a:rPr lang="fr-FR" dirty="0"/>
              <a:t>page=3&amp;sort=asc</a:t>
            </a:r>
          </a:p>
          <a:p>
            <a:pPr marL="0" indent="0">
              <a:buNone/>
            </a:pPr>
            <a:r>
              <a:rPr lang="fr-FR" dirty="0"/>
              <a:t>hash ⇒ </a:t>
            </a:r>
            <a:r>
              <a:rPr lang="fa-IR" dirty="0"/>
              <a:t>مقدار هَش مثل #</a:t>
            </a:r>
            <a:r>
              <a:rPr lang="fr-FR" dirty="0"/>
              <a:t>section1</a:t>
            </a:r>
          </a:p>
          <a:p>
            <a:pPr marL="0" indent="0">
              <a:buNone/>
            </a:pPr>
            <a:r>
              <a:rPr lang="fr-FR" dirty="0"/>
              <a:t>state ⇒ </a:t>
            </a:r>
            <a:r>
              <a:rPr lang="fa-IR" dirty="0"/>
              <a:t>استیتی که بین صفحات رد و بدل می‌کنیم</a:t>
            </a:r>
            <a:endParaRPr lang="fr-FR" dirty="0"/>
          </a:p>
          <a:p>
            <a:pPr marL="0" indent="0">
              <a:buNone/>
            </a:pPr>
            <a:endParaRPr lang="en-US" dirty="0">
              <a:cs typeface="B Nazanin" panose="00000400000000000000" pitchFamily="2" charset="-78"/>
            </a:endParaRPr>
          </a:p>
          <a:p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74110-206A-61DC-EC16-6A32ED9E13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941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FD97F-686A-46B5-047A-D88CE608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241D86-E21F-CFA4-F7B9-035A8B47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UseFormStatus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8264F-613D-FEB3-694C-B655D2487B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4330" y="175492"/>
            <a:ext cx="5554980" cy="64839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import { useFormStatus } from "react";</a:t>
            </a:r>
          </a:p>
          <a:p>
            <a:pPr marL="0" indent="0">
              <a:buNone/>
            </a:pPr>
            <a:endParaRPr lang="en-US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function SubmitButton() {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const { pending } = useFormStatus();</a:t>
            </a:r>
          </a:p>
          <a:p>
            <a:pPr marL="0" indent="0">
              <a:buNone/>
            </a:pPr>
            <a:endParaRPr lang="en-US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return (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  &lt;button disabled={pending}&gt;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    {pending ? "</a:t>
            </a:r>
            <a:r>
              <a:rPr lang="fa-IR" dirty="0">
                <a:cs typeface="B Nazanin" panose="00000400000000000000" pitchFamily="2" charset="-78"/>
              </a:rPr>
              <a:t>در حال ارسال..." : "ارسال"}</a:t>
            </a:r>
          </a:p>
          <a:p>
            <a:pPr marL="0" indent="0">
              <a:buNone/>
            </a:pPr>
            <a:r>
              <a:rPr lang="fa-IR" dirty="0">
                <a:cs typeface="B Nazanin" panose="00000400000000000000" pitchFamily="2" charset="-78"/>
              </a:rPr>
              <a:t>    &lt;/</a:t>
            </a:r>
            <a:r>
              <a:rPr lang="en-US" dirty="0">
                <a:cs typeface="B Nazanin" panose="00000400000000000000" pitchFamily="2" charset="-78"/>
              </a:rPr>
              <a:t>button&gt;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);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41000F-9BBD-CEED-9D63-CFA881F436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069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AC790-1836-270F-5F32-D2B631E19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7F8DE0-FABA-1020-8FC2-0EDAC56B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</a:t>
            </a:r>
            <a:r>
              <a:rPr lang="en-US" b="0" dirty="0"/>
              <a:t>Transition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09EAD-F434-750E-4B17-3BBFB41152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4319" y="988291"/>
            <a:ext cx="5205985" cy="4719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const [isPending, startTransition] = useTransition();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2C9AA3-547A-43F5-604E-BEA9829DCD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275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2616-DE17-B189-6D61-01F11D66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B66251-FD4E-5F8C-C270-1BCD4BC0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/>
          <a:lstStyle/>
          <a:p>
            <a:r>
              <a:rPr lang="en-US" dirty="0"/>
              <a:t>UseDeferredValue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E55E82-4717-5DB9-DE0E-EEE793136F2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4319" y="205740"/>
            <a:ext cx="5205985" cy="6046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const [input, setInput] = useState("");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// </a:t>
            </a:r>
            <a:r>
              <a:rPr lang="fa-IR" dirty="0">
                <a:cs typeface="B Nazanin" panose="00000400000000000000" pitchFamily="2" charset="-78"/>
              </a:rPr>
              <a:t>نسخه به‌تعویق‌افتادن ورودی</a:t>
            </a:r>
          </a:p>
          <a:p>
            <a:pPr marL="0" indent="0">
              <a:buNone/>
            </a:pPr>
            <a:r>
              <a:rPr lang="fa-IR" dirty="0">
                <a:cs typeface="B Nazanin" panose="00000400000000000000" pitchFamily="2" charset="-78"/>
              </a:rPr>
              <a:t>  </a:t>
            </a:r>
            <a:r>
              <a:rPr lang="en-US" dirty="0">
                <a:cs typeface="B Nazanin" panose="00000400000000000000" pitchFamily="2" charset="-78"/>
              </a:rPr>
              <a:t>const deferredValue = useDeferredValue(input);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&lt;input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value={input}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      onChange={(e) =&gt; setInput(e.target.value)}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      placeholder="</a:t>
            </a:r>
            <a:r>
              <a:rPr lang="fa-IR" dirty="0">
                <a:cs typeface="B Nazanin" panose="00000400000000000000" pitchFamily="2" charset="-78"/>
              </a:rPr>
              <a:t>جستجو..."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/&gt;</a:t>
            </a:r>
          </a:p>
          <a:p>
            <a:pPr marL="0" indent="0">
              <a:buNone/>
            </a:pPr>
            <a:r>
              <a:rPr lang="fa-IR" dirty="0">
                <a:cs typeface="B Nazanin" panose="00000400000000000000" pitchFamily="2" charset="-78"/>
              </a:rPr>
              <a:t>      {/* لیست با مقدار تعویق‌افتاده رندر می‌شود */}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&lt;HeavyList query={deferredValue} /&gt;</a:t>
            </a:r>
            <a:endParaRPr lang="fa-IR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FA92C2-B11F-118F-8FDB-A902071545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31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18868-AA5A-3FF3-26EA-3DBD922C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A0A414-27D2-E4F4-6AA1-8B449D1AA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7930" y="1956816"/>
            <a:ext cx="4423410" cy="3218688"/>
          </a:xfrm>
        </p:spPr>
        <p:txBody>
          <a:bodyPr/>
          <a:lstStyle/>
          <a:p>
            <a:r>
              <a:rPr lang="en-US" dirty="0"/>
              <a:t>UseSyncExternalStore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3CD34-170A-64B3-2496-D69FCB499FE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4320" y="205740"/>
            <a:ext cx="6492240" cy="60464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import { useSyncExternalStore } from "react";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function subscribe(callback) {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window.addEventListener("resize", callback);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return () =&gt; window.removeEventListener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("resize", callback);}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function getSnapshot() {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return window.innerWidth;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}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export default function App() {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const width = useSyncExternalStore(subscribe, 	getSnapshot);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  return &lt;h1&gt;Window Width: {width}&lt;/h1&gt;;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4D636-74AD-05E4-4BEF-B6FBEEC80A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473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2FE9A-019F-086B-72E9-7B3AAF01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AE5B86-9D79-7EF4-9B24-8B508E023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7930" y="1956816"/>
            <a:ext cx="4423410" cy="3218688"/>
          </a:xfrm>
        </p:spPr>
        <p:txBody>
          <a:bodyPr/>
          <a:lstStyle/>
          <a:p>
            <a:r>
              <a:rPr lang="en-US" dirty="0"/>
              <a:t>UseLayoutEffect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75E23-7A27-19DA-9CB8-2E0ED25B763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71450" y="1211580"/>
            <a:ext cx="6343650" cy="50406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import { useLayoutEffect, useRef, useState } from "react";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function Box() {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const ref = useRef(null);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const [height, setHeight] = useState(0);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useLayoutEffect(() =&gt; {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  const h = ref.current.getBoundingClientRect().height;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  setHeight(h);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}, []);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return (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  &lt;div&gt;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    &lt;div ref={ref} className="box"&gt;Hello&lt;/div&gt;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    &lt;p&gt;Height: {height}&lt;/p&gt;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  &lt;/div&gt;</a:t>
            </a:r>
          </a:p>
          <a:p>
            <a:pPr marL="0" indent="0">
              <a:buNone/>
            </a:pPr>
            <a:r>
              <a:rPr lang="en-US" sz="1600" dirty="0">
                <a:cs typeface="B Nazanin" panose="00000400000000000000" pitchFamily="2" charset="-78"/>
              </a:rPr>
              <a:t>  );}</a:t>
            </a:r>
          </a:p>
          <a:p>
            <a:pPr marL="0" indent="0">
              <a:buNone/>
            </a:pPr>
            <a:endParaRPr lang="en-US" sz="1600" dirty="0">
              <a:cs typeface="B Nazanin" panose="00000400000000000000" pitchFamily="2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1FCE64-CC8A-7C61-7B87-89BA747D1D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940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18D2-E461-E7A0-571D-3FA2F3953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A5F9F5C0-C656-49C1-7E1B-F6276379A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251460"/>
            <a:ext cx="9475470" cy="994410"/>
          </a:xfrm>
        </p:spPr>
        <p:txBody>
          <a:bodyPr>
            <a:normAutofit/>
          </a:bodyPr>
          <a:lstStyle/>
          <a:p>
            <a:r>
              <a:rPr lang="en-US" dirty="0"/>
              <a:t>Extensions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4FEEF5-1D9F-429C-DEA4-ECE9537FB50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88670" y="1611630"/>
            <a:ext cx="4594859" cy="4699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ES7+ React/Redux/React-Native/JS Snippets 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EE6569A4-A5A9-EE5A-B164-D228E49AB945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906873943"/>
              </p:ext>
            </p:extLst>
          </p:nvPr>
        </p:nvGraphicFramePr>
        <p:xfrm>
          <a:off x="5669281" y="1497330"/>
          <a:ext cx="4594859" cy="5000463"/>
        </p:xfrm>
        <a:graphic>
          <a:graphicData uri="http://schemas.openxmlformats.org/drawingml/2006/table">
            <a:tbl>
              <a:tblPr/>
              <a:tblGrid>
                <a:gridCol w="1690454">
                  <a:extLst>
                    <a:ext uri="{9D8B030D-6E8A-4147-A177-3AD203B41FA5}">
                      <a16:colId xmlns:a16="http://schemas.microsoft.com/office/drawing/2014/main" val="889353358"/>
                    </a:ext>
                  </a:extLst>
                </a:gridCol>
                <a:gridCol w="2904405">
                  <a:extLst>
                    <a:ext uri="{9D8B030D-6E8A-4147-A177-3AD203B41FA5}">
                      <a16:colId xmlns:a16="http://schemas.microsoft.com/office/drawing/2014/main" val="1324281323"/>
                    </a:ext>
                  </a:extLst>
                </a:gridCol>
              </a:tblGrid>
              <a:tr h="6334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 sz="1600" dirty="0"/>
                        <a:t>شورتکات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a-IR" sz="1600" dirty="0"/>
                        <a:t>خروجی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352778"/>
                  </a:ext>
                </a:extLst>
              </a:tr>
              <a:tr h="598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rafce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Functional Component + export default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6083"/>
                  </a:ext>
                </a:extLst>
              </a:tr>
              <a:tr h="598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rafc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Functional Component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988142"/>
                  </a:ext>
                </a:extLst>
              </a:tr>
              <a:tr h="598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rfce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Functional Component </a:t>
                      </a:r>
                      <a:r>
                        <a:rPr lang="fa-IR" sz="1600" dirty="0"/>
                        <a:t>با </a:t>
                      </a:r>
                      <a:r>
                        <a:rPr lang="en-US" sz="1600" dirty="0"/>
                        <a:t>named export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961805"/>
                  </a:ext>
                </a:extLst>
              </a:tr>
              <a:tr h="773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urd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{ useReducer } from "react";</a:t>
                      </a:r>
                      <a:b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6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useReducer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431467"/>
                  </a:ext>
                </a:extLst>
              </a:tr>
              <a:tr h="598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nfn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const functionName = () =&gt; {};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300389"/>
                  </a:ext>
                </a:extLst>
              </a:tr>
              <a:tr h="598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clg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console.log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149346"/>
                  </a:ext>
                </a:extLst>
              </a:tr>
              <a:tr h="5988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clo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console.log(“object”, object)</a:t>
                      </a:r>
                    </a:p>
                  </a:txBody>
                  <a:tcPr marL="37187" marR="37187" marT="18594" marB="18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301772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3D3E8-D331-E1A6-2CD0-ABF6DC3D75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59841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64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60F6F-E490-BF7A-A8DB-59FD2206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6B86F36-079F-79FA-C2F6-565562DDAE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3692" r="23692"/>
          <a:stretch>
            <a:fillRect/>
          </a:stretch>
        </p:blipFill>
        <p:spPr>
          <a:xfrm>
            <a:off x="4211274" y="1526679"/>
            <a:ext cx="2650836" cy="2620448"/>
          </a:xfrm>
        </p:spPr>
      </p:pic>
    </p:spTree>
    <p:extLst>
      <p:ext uri="{BB962C8B-B14F-4D97-AF65-F5344CB8AC3E}">
        <p14:creationId xmlns:p14="http://schemas.microsoft.com/office/powerpoint/2010/main" val="6438017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415">
      <a:dk1>
        <a:srgbClr val="3B3B3B"/>
      </a:dk1>
      <a:lt1>
        <a:sysClr val="window" lastClr="FFFFFF"/>
      </a:lt1>
      <a:dk2>
        <a:srgbClr val="262626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7030A0"/>
      </a:accent4>
      <a:accent5>
        <a:srgbClr val="B92AD6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">
      <a:majorFont>
        <a:latin typeface="Narkisim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931380_win32_KB_V5" id="{1B786C8D-2177-4A5A-9718-032A412214C6}" vid="{EA647B36-C19D-492E-9711-2F7B3523F3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450B55-B496-4B49-9DD2-B71AB023CA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9F46F3-DDE7-46C7-84BC-59C1156F2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A27D8E-DE3D-481C-905D-44ADCF801F7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Elementary school presentation</Template>
  <TotalTime>1105</TotalTime>
  <Words>1461</Words>
  <Application>Microsoft Office PowerPoint</Application>
  <PresentationFormat>Widescreen</PresentationFormat>
  <Paragraphs>345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Anjoman Max ExBold</vt:lpstr>
      <vt:lpstr>Arial</vt:lpstr>
      <vt:lpstr>B Nazanin</vt:lpstr>
      <vt:lpstr>Calibri</vt:lpstr>
      <vt:lpstr>Franklin Gothic Book</vt:lpstr>
      <vt:lpstr>Menlo</vt:lpstr>
      <vt:lpstr>Narkisim</vt:lpstr>
      <vt:lpstr>Tenorite</vt:lpstr>
      <vt:lpstr>Custom</vt:lpstr>
      <vt:lpstr>Learn React</vt:lpstr>
      <vt:lpstr>Functional Components</vt:lpstr>
      <vt:lpstr>Server Components Vs Client Components </vt:lpstr>
      <vt:lpstr>Functional Components vs Class Components </vt:lpstr>
      <vt:lpstr>PowerPoint Presentation</vt:lpstr>
      <vt:lpstr>چرا از هوک ها استفاده کنیم؟ </vt:lpstr>
      <vt:lpstr>UseState</vt:lpstr>
      <vt:lpstr>UseRef</vt:lpstr>
      <vt:lpstr>UseEffect</vt:lpstr>
      <vt:lpstr>UseEffect</vt:lpstr>
      <vt:lpstr>UseEffect</vt:lpstr>
      <vt:lpstr>Context  of  class component</vt:lpstr>
      <vt:lpstr>UseContext  of  functional component</vt:lpstr>
      <vt:lpstr>چه زمانی استفاده کنیم؟  UseReducer</vt:lpstr>
      <vt:lpstr>UseReducer</vt:lpstr>
      <vt:lpstr>UseMemo</vt:lpstr>
      <vt:lpstr>UseCallback</vt:lpstr>
      <vt:lpstr>UseOptimistic</vt:lpstr>
      <vt:lpstr>UseActionState</vt:lpstr>
      <vt:lpstr>ساخت هوک سفارشی</vt:lpstr>
      <vt:lpstr>React Router</vt:lpstr>
      <vt:lpstr>react-router vs react-router-dom</vt:lpstr>
      <vt:lpstr>اجزای اصلی React Router </vt:lpstr>
      <vt:lpstr>UseParams</vt:lpstr>
      <vt:lpstr>UseNavigate</vt:lpstr>
      <vt:lpstr>UseLocation</vt:lpstr>
      <vt:lpstr>UseFormStatus</vt:lpstr>
      <vt:lpstr>UseTransition</vt:lpstr>
      <vt:lpstr>UseDeferredValue</vt:lpstr>
      <vt:lpstr>UseSyncExternalStore</vt:lpstr>
      <vt:lpstr>UseLayoutEffect</vt:lpstr>
      <vt:lpstr>Extensions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هدیه دارستانی فراهانی</dc:creator>
  <cp:lastModifiedBy>هدیه دارستانی فراهانی</cp:lastModifiedBy>
  <cp:revision>228</cp:revision>
  <dcterms:created xsi:type="dcterms:W3CDTF">2025-11-11T07:15:40Z</dcterms:created>
  <dcterms:modified xsi:type="dcterms:W3CDTF">2025-11-22T05:12:59Z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